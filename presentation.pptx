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Inter Bold" charset="1" panose="020B0802030000000004"/>
      <p:regular r:id="rId19"/>
    </p:embeddedFont>
    <p:embeddedFont>
      <p:font typeface="Libre Baskerville Bold" charset="1" panose="02000000000000000000"/>
      <p:regular r:id="rId20"/>
    </p:embeddedFont>
    <p:embeddedFont>
      <p:font typeface="Lovelo" charset="1" panose="02000000000000000000"/>
      <p:regular r:id="rId21"/>
    </p:embeddedFont>
    <p:embeddedFont>
      <p:font typeface="Libre Baskerville" charset="1" panose="02000000000000000000"/>
      <p:regular r:id="rId22"/>
    </p:embeddedFont>
    <p:embeddedFont>
      <p:font typeface="Inter" charset="1" panose="020B0502030000000004"/>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EEEEF"/>
        </a:solidFill>
      </p:bgPr>
    </p:bg>
    <p:spTree>
      <p:nvGrpSpPr>
        <p:cNvPr id="1" name=""/>
        <p:cNvGrpSpPr/>
        <p:nvPr/>
      </p:nvGrpSpPr>
      <p:grpSpPr>
        <a:xfrm>
          <a:off x="0" y="0"/>
          <a:ext cx="0" cy="0"/>
          <a:chOff x="0" y="0"/>
          <a:chExt cx="0" cy="0"/>
        </a:xfrm>
      </p:grpSpPr>
      <p:grpSp>
        <p:nvGrpSpPr>
          <p:cNvPr name="Group 2" id="2"/>
          <p:cNvGrpSpPr/>
          <p:nvPr/>
        </p:nvGrpSpPr>
        <p:grpSpPr>
          <a:xfrm rot="5400000">
            <a:off x="15310819" y="0"/>
            <a:ext cx="2977181" cy="2977181"/>
            <a:chOff x="0" y="0"/>
            <a:chExt cx="3969575" cy="3969575"/>
          </a:xfrm>
        </p:grpSpPr>
        <p:grpSp>
          <p:nvGrpSpPr>
            <p:cNvPr name="Group 3" id="3"/>
            <p:cNvGrpSpPr/>
            <p:nvPr/>
          </p:nvGrpSpPr>
          <p:grpSpPr>
            <a:xfrm rot="0">
              <a:off x="0" y="0"/>
              <a:ext cx="1984788" cy="198478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5" id="5"/>
              <p:cNvSpPr txBox="true"/>
              <p:nvPr/>
            </p:nvSpPr>
            <p:spPr>
              <a:xfrm>
                <a:off x="0" y="19050"/>
                <a:ext cx="812800" cy="793750"/>
              </a:xfrm>
              <a:prstGeom prst="rect">
                <a:avLst/>
              </a:prstGeom>
            </p:spPr>
            <p:txBody>
              <a:bodyPr anchor="ctr" rtlCol="false" tIns="50800" lIns="50800" bIns="50800" rIns="50800"/>
              <a:lstStyle/>
              <a:p>
                <a:pPr algn="ctr">
                  <a:lnSpc>
                    <a:spcPts val="1980"/>
                  </a:lnSpc>
                </a:pPr>
              </a:p>
            </p:txBody>
          </p:sp>
        </p:grpSp>
        <p:grpSp>
          <p:nvGrpSpPr>
            <p:cNvPr name="Group 6" id="6"/>
            <p:cNvGrpSpPr/>
            <p:nvPr/>
          </p:nvGrpSpPr>
          <p:grpSpPr>
            <a:xfrm rot="0">
              <a:off x="0" y="1984788"/>
              <a:ext cx="1984788" cy="198478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8" id="8"/>
              <p:cNvSpPr txBox="true"/>
              <p:nvPr/>
            </p:nvSpPr>
            <p:spPr>
              <a:xfrm>
                <a:off x="0" y="19050"/>
                <a:ext cx="812800" cy="793750"/>
              </a:xfrm>
              <a:prstGeom prst="rect">
                <a:avLst/>
              </a:prstGeom>
            </p:spPr>
            <p:txBody>
              <a:bodyPr anchor="ctr" rtlCol="false" tIns="50800" lIns="50800" bIns="50800" rIns="50800"/>
              <a:lstStyle/>
              <a:p>
                <a:pPr algn="ctr">
                  <a:lnSpc>
                    <a:spcPts val="1980"/>
                  </a:lnSpc>
                </a:pPr>
              </a:p>
            </p:txBody>
          </p:sp>
        </p:grpSp>
        <p:grpSp>
          <p:nvGrpSpPr>
            <p:cNvPr name="Group 9" id="9"/>
            <p:cNvGrpSpPr/>
            <p:nvPr/>
          </p:nvGrpSpPr>
          <p:grpSpPr>
            <a:xfrm rot="0">
              <a:off x="1984788" y="0"/>
              <a:ext cx="1984788" cy="198478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11" id="11"/>
              <p:cNvSpPr txBox="true"/>
              <p:nvPr/>
            </p:nvSpPr>
            <p:spPr>
              <a:xfrm>
                <a:off x="0" y="19050"/>
                <a:ext cx="812800" cy="793750"/>
              </a:xfrm>
              <a:prstGeom prst="rect">
                <a:avLst/>
              </a:prstGeom>
            </p:spPr>
            <p:txBody>
              <a:bodyPr anchor="ctr" rtlCol="false" tIns="50800" lIns="50800" bIns="50800" rIns="50800"/>
              <a:lstStyle/>
              <a:p>
                <a:pPr algn="ctr">
                  <a:lnSpc>
                    <a:spcPts val="1980"/>
                  </a:lnSpc>
                </a:pPr>
              </a:p>
            </p:txBody>
          </p:sp>
        </p:grpSp>
      </p:grpSp>
      <p:grpSp>
        <p:nvGrpSpPr>
          <p:cNvPr name="Group 12" id="12"/>
          <p:cNvGrpSpPr/>
          <p:nvPr/>
        </p:nvGrpSpPr>
        <p:grpSpPr>
          <a:xfrm rot="5400000">
            <a:off x="536399" y="1655882"/>
            <a:ext cx="1321300" cy="132130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14" id="14"/>
            <p:cNvSpPr txBox="true"/>
            <p:nvPr/>
          </p:nvSpPr>
          <p:spPr>
            <a:xfrm>
              <a:off x="0" y="19050"/>
              <a:ext cx="812800" cy="793750"/>
            </a:xfrm>
            <a:prstGeom prst="rect">
              <a:avLst/>
            </a:prstGeom>
          </p:spPr>
          <p:txBody>
            <a:bodyPr anchor="ctr" rtlCol="false" tIns="132573" lIns="132573" bIns="132573" rIns="132573"/>
            <a:lstStyle/>
            <a:p>
              <a:pPr algn="ctr">
                <a:lnSpc>
                  <a:spcPts val="1980"/>
                </a:lnSpc>
              </a:pPr>
            </a:p>
          </p:txBody>
        </p:sp>
      </p:grpSp>
      <p:grpSp>
        <p:nvGrpSpPr>
          <p:cNvPr name="Group 15" id="15"/>
          <p:cNvGrpSpPr/>
          <p:nvPr/>
        </p:nvGrpSpPr>
        <p:grpSpPr>
          <a:xfrm rot="5400000">
            <a:off x="5703926" y="7490954"/>
            <a:ext cx="1488591" cy="148859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17" id="17"/>
            <p:cNvSpPr txBox="true"/>
            <p:nvPr/>
          </p:nvSpPr>
          <p:spPr>
            <a:xfrm>
              <a:off x="0" y="19050"/>
              <a:ext cx="812800" cy="793750"/>
            </a:xfrm>
            <a:prstGeom prst="rect">
              <a:avLst/>
            </a:prstGeom>
          </p:spPr>
          <p:txBody>
            <a:bodyPr anchor="ctr" rtlCol="false" tIns="132573" lIns="132573" bIns="132573" rIns="132573"/>
            <a:lstStyle/>
            <a:p>
              <a:pPr algn="ctr">
                <a:lnSpc>
                  <a:spcPts val="1980"/>
                </a:lnSpc>
              </a:pPr>
            </a:p>
          </p:txBody>
        </p:sp>
      </p:grpSp>
      <p:grpSp>
        <p:nvGrpSpPr>
          <p:cNvPr name="Group 18" id="18"/>
          <p:cNvGrpSpPr/>
          <p:nvPr/>
        </p:nvGrpSpPr>
        <p:grpSpPr>
          <a:xfrm rot="5400000">
            <a:off x="1857699" y="334582"/>
            <a:ext cx="1321300" cy="1321300"/>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20" id="20"/>
            <p:cNvSpPr txBox="true"/>
            <p:nvPr/>
          </p:nvSpPr>
          <p:spPr>
            <a:xfrm>
              <a:off x="0" y="19050"/>
              <a:ext cx="812800" cy="793750"/>
            </a:xfrm>
            <a:prstGeom prst="rect">
              <a:avLst/>
            </a:prstGeom>
          </p:spPr>
          <p:txBody>
            <a:bodyPr anchor="ctr" rtlCol="false" tIns="132573" lIns="132573" bIns="132573" rIns="132573"/>
            <a:lstStyle/>
            <a:p>
              <a:pPr algn="ctr">
                <a:lnSpc>
                  <a:spcPts val="1980"/>
                </a:lnSpc>
              </a:pPr>
            </a:p>
          </p:txBody>
        </p:sp>
      </p:grpSp>
      <p:grpSp>
        <p:nvGrpSpPr>
          <p:cNvPr name="Group 21" id="21"/>
          <p:cNvGrpSpPr/>
          <p:nvPr/>
        </p:nvGrpSpPr>
        <p:grpSpPr>
          <a:xfrm rot="5400000">
            <a:off x="16799409" y="8798409"/>
            <a:ext cx="1488591" cy="1488591"/>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23" id="23"/>
            <p:cNvSpPr txBox="true"/>
            <p:nvPr/>
          </p:nvSpPr>
          <p:spPr>
            <a:xfrm>
              <a:off x="0" y="19050"/>
              <a:ext cx="812800" cy="793750"/>
            </a:xfrm>
            <a:prstGeom prst="rect">
              <a:avLst/>
            </a:prstGeom>
          </p:spPr>
          <p:txBody>
            <a:bodyPr anchor="ctr" rtlCol="false" tIns="132573" lIns="132573" bIns="132573" rIns="132573"/>
            <a:lstStyle/>
            <a:p>
              <a:pPr algn="ctr">
                <a:lnSpc>
                  <a:spcPts val="1980"/>
                </a:lnSpc>
              </a:pPr>
            </a:p>
          </p:txBody>
        </p:sp>
      </p:grpSp>
      <p:grpSp>
        <p:nvGrpSpPr>
          <p:cNvPr name="Group 24" id="24"/>
          <p:cNvGrpSpPr/>
          <p:nvPr/>
        </p:nvGrpSpPr>
        <p:grpSpPr>
          <a:xfrm rot="5400000">
            <a:off x="4215335" y="7490954"/>
            <a:ext cx="1488591" cy="1488591"/>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1"/>
            </a:solidFill>
          </p:spPr>
        </p:sp>
        <p:sp>
          <p:nvSpPr>
            <p:cNvPr name="TextBox 26" id="26"/>
            <p:cNvSpPr txBox="true"/>
            <p:nvPr/>
          </p:nvSpPr>
          <p:spPr>
            <a:xfrm>
              <a:off x="0" y="19050"/>
              <a:ext cx="812800" cy="793750"/>
            </a:xfrm>
            <a:prstGeom prst="rect">
              <a:avLst/>
            </a:prstGeom>
          </p:spPr>
          <p:txBody>
            <a:bodyPr anchor="ctr" rtlCol="false" tIns="132573" lIns="132573" bIns="132573" rIns="132573"/>
            <a:lstStyle/>
            <a:p>
              <a:pPr algn="ctr">
                <a:lnSpc>
                  <a:spcPts val="1980"/>
                </a:lnSpc>
              </a:pPr>
            </a:p>
          </p:txBody>
        </p:sp>
      </p:grpSp>
      <p:grpSp>
        <p:nvGrpSpPr>
          <p:cNvPr name="Group 27" id="27"/>
          <p:cNvGrpSpPr/>
          <p:nvPr/>
        </p:nvGrpSpPr>
        <p:grpSpPr>
          <a:xfrm rot="-5400000">
            <a:off x="0" y="8429301"/>
            <a:ext cx="1857699" cy="1857699"/>
            <a:chOff x="0" y="0"/>
            <a:chExt cx="2476932" cy="2476932"/>
          </a:xfrm>
        </p:grpSpPr>
        <p:grpSp>
          <p:nvGrpSpPr>
            <p:cNvPr name="Group 28" id="28"/>
            <p:cNvGrpSpPr/>
            <p:nvPr/>
          </p:nvGrpSpPr>
          <p:grpSpPr>
            <a:xfrm rot="0">
              <a:off x="0" y="0"/>
              <a:ext cx="1238466" cy="1238466"/>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30" id="30"/>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31" id="31"/>
            <p:cNvGrpSpPr/>
            <p:nvPr/>
          </p:nvGrpSpPr>
          <p:grpSpPr>
            <a:xfrm rot="0">
              <a:off x="0" y="1238466"/>
              <a:ext cx="1238466" cy="1238466"/>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33" id="33"/>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34" id="34"/>
            <p:cNvGrpSpPr/>
            <p:nvPr/>
          </p:nvGrpSpPr>
          <p:grpSpPr>
            <a:xfrm rot="0">
              <a:off x="1238466" y="0"/>
              <a:ext cx="1238466" cy="1238466"/>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36" id="36"/>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sp>
        <p:nvSpPr>
          <p:cNvPr name="TextBox 37" id="37"/>
          <p:cNvSpPr txBox="true"/>
          <p:nvPr/>
        </p:nvSpPr>
        <p:spPr>
          <a:xfrm rot="0">
            <a:off x="377600" y="9748607"/>
            <a:ext cx="4562061" cy="207645"/>
          </a:xfrm>
          <a:prstGeom prst="rect">
            <a:avLst/>
          </a:prstGeom>
        </p:spPr>
        <p:txBody>
          <a:bodyPr anchor="t" rtlCol="false" tIns="0" lIns="0" bIns="0" rIns="0">
            <a:spAutoFit/>
          </a:bodyPr>
          <a:lstStyle/>
          <a:p>
            <a:pPr algn="l">
              <a:lnSpc>
                <a:spcPts val="1679"/>
              </a:lnSpc>
            </a:pPr>
            <a:r>
              <a:rPr lang="en-US" sz="1199" b="true">
                <a:solidFill>
                  <a:srgbClr val="000000"/>
                </a:solidFill>
                <a:latin typeface="Inter Bold"/>
                <a:ea typeface="Inter Bold"/>
                <a:cs typeface="Inter Bold"/>
                <a:sym typeface="Inter Bold"/>
              </a:rPr>
              <a:t>www.reallygreatsite.com</a:t>
            </a:r>
          </a:p>
        </p:txBody>
      </p:sp>
      <p:grpSp>
        <p:nvGrpSpPr>
          <p:cNvPr name="Group 38" id="38"/>
          <p:cNvGrpSpPr/>
          <p:nvPr/>
        </p:nvGrpSpPr>
        <p:grpSpPr>
          <a:xfrm rot="0">
            <a:off x="377600" y="321611"/>
            <a:ext cx="2102569" cy="275311"/>
            <a:chOff x="0" y="0"/>
            <a:chExt cx="2803426" cy="367081"/>
          </a:xfrm>
        </p:grpSpPr>
        <p:sp>
          <p:nvSpPr>
            <p:cNvPr name="TextBox 39" id="39"/>
            <p:cNvSpPr txBox="true"/>
            <p:nvPr/>
          </p:nvSpPr>
          <p:spPr>
            <a:xfrm rot="0">
              <a:off x="0" y="19050"/>
              <a:ext cx="1508522" cy="341630"/>
            </a:xfrm>
            <a:prstGeom prst="rect">
              <a:avLst/>
            </a:prstGeom>
          </p:spPr>
          <p:txBody>
            <a:bodyPr anchor="t" rtlCol="false" tIns="0" lIns="0" bIns="0" rIns="0">
              <a:spAutoFit/>
            </a:bodyPr>
            <a:lstStyle/>
            <a:p>
              <a:pPr algn="ctr">
                <a:lnSpc>
                  <a:spcPts val="1979"/>
                </a:lnSpc>
                <a:spcBef>
                  <a:spcPct val="0"/>
                </a:spcBef>
              </a:pPr>
              <a:r>
                <a:rPr lang="en-US" b="true" sz="1799">
                  <a:solidFill>
                    <a:srgbClr val="000000"/>
                  </a:solidFill>
                  <a:latin typeface="Libre Baskerville Bold"/>
                  <a:ea typeface="Libre Baskerville Bold"/>
                  <a:cs typeface="Libre Baskerville Bold"/>
                  <a:sym typeface="Libre Baskerville Bold"/>
                </a:rPr>
                <a:t>Arowwai </a:t>
              </a:r>
            </a:p>
          </p:txBody>
        </p:sp>
        <p:sp>
          <p:nvSpPr>
            <p:cNvPr name="TextBox 40" id="40"/>
            <p:cNvSpPr txBox="true"/>
            <p:nvPr/>
          </p:nvSpPr>
          <p:spPr>
            <a:xfrm rot="0">
              <a:off x="1521222" y="89374"/>
              <a:ext cx="1282204" cy="277707"/>
            </a:xfrm>
            <a:prstGeom prst="rect">
              <a:avLst/>
            </a:prstGeom>
          </p:spPr>
          <p:txBody>
            <a:bodyPr anchor="t" rtlCol="false" tIns="0" lIns="0" bIns="0" rIns="0">
              <a:spAutoFit/>
            </a:bodyPr>
            <a:lstStyle/>
            <a:p>
              <a:pPr algn="ctr">
                <a:lnSpc>
                  <a:spcPts val="1540"/>
                </a:lnSpc>
                <a:spcBef>
                  <a:spcPct val="0"/>
                </a:spcBef>
              </a:pPr>
              <a:r>
                <a:rPr lang="en-US" sz="1400">
                  <a:solidFill>
                    <a:srgbClr val="929292"/>
                  </a:solidFill>
                  <a:latin typeface="Lovelo"/>
                  <a:ea typeface="Lovelo"/>
                  <a:cs typeface="Lovelo"/>
                  <a:sym typeface="Lovelo"/>
                </a:rPr>
                <a:t>Industries</a:t>
              </a:r>
            </a:p>
          </p:txBody>
        </p:sp>
      </p:grpSp>
      <p:grpSp>
        <p:nvGrpSpPr>
          <p:cNvPr name="Group 41" id="41"/>
          <p:cNvGrpSpPr/>
          <p:nvPr/>
        </p:nvGrpSpPr>
        <p:grpSpPr>
          <a:xfrm rot="0">
            <a:off x="11156614" y="2795201"/>
            <a:ext cx="5265791" cy="4696598"/>
            <a:chOff x="0" y="0"/>
            <a:chExt cx="1386875" cy="1236964"/>
          </a:xfrm>
        </p:grpSpPr>
        <p:sp>
          <p:nvSpPr>
            <p:cNvPr name="Freeform 42" id="42"/>
            <p:cNvSpPr/>
            <p:nvPr/>
          </p:nvSpPr>
          <p:spPr>
            <a:xfrm flipH="false" flipV="false" rot="0">
              <a:off x="0" y="0"/>
              <a:ext cx="1386875" cy="1236964"/>
            </a:xfrm>
            <a:custGeom>
              <a:avLst/>
              <a:gdLst/>
              <a:ahLst/>
              <a:cxnLst/>
              <a:rect r="r" b="b" t="t" l="l"/>
              <a:pathLst>
                <a:path h="1236964" w="1386875">
                  <a:moveTo>
                    <a:pt x="44107" y="0"/>
                  </a:moveTo>
                  <a:lnTo>
                    <a:pt x="1342768" y="0"/>
                  </a:lnTo>
                  <a:cubicBezTo>
                    <a:pt x="1367128" y="0"/>
                    <a:pt x="1386875" y="19747"/>
                    <a:pt x="1386875" y="44107"/>
                  </a:cubicBezTo>
                  <a:lnTo>
                    <a:pt x="1386875" y="1192857"/>
                  </a:lnTo>
                  <a:cubicBezTo>
                    <a:pt x="1386875" y="1217217"/>
                    <a:pt x="1367128" y="1236964"/>
                    <a:pt x="1342768" y="1236964"/>
                  </a:cubicBezTo>
                  <a:lnTo>
                    <a:pt x="44107" y="1236964"/>
                  </a:lnTo>
                  <a:cubicBezTo>
                    <a:pt x="19747" y="1236964"/>
                    <a:pt x="0" y="1217217"/>
                    <a:pt x="0" y="1192857"/>
                  </a:cubicBezTo>
                  <a:lnTo>
                    <a:pt x="0" y="44107"/>
                  </a:lnTo>
                  <a:cubicBezTo>
                    <a:pt x="0" y="19747"/>
                    <a:pt x="19747" y="0"/>
                    <a:pt x="44107" y="0"/>
                  </a:cubicBezTo>
                  <a:close/>
                </a:path>
              </a:pathLst>
            </a:custGeom>
            <a:ln w="9525" cap="rnd">
              <a:solidFill>
                <a:srgbClr val="A6A6A6"/>
              </a:solidFill>
              <a:prstDash val="solid"/>
              <a:round/>
            </a:ln>
          </p:spPr>
        </p:sp>
        <p:sp>
          <p:nvSpPr>
            <p:cNvPr name="TextBox 43" id="43"/>
            <p:cNvSpPr txBox="true"/>
            <p:nvPr/>
          </p:nvSpPr>
          <p:spPr>
            <a:xfrm>
              <a:off x="0" y="19050"/>
              <a:ext cx="1386875" cy="1217914"/>
            </a:xfrm>
            <a:prstGeom prst="rect">
              <a:avLst/>
            </a:prstGeom>
          </p:spPr>
          <p:txBody>
            <a:bodyPr anchor="ctr" rtlCol="false" tIns="50800" lIns="50800" bIns="50800" rIns="50800"/>
            <a:lstStyle/>
            <a:p>
              <a:pPr algn="ctr">
                <a:lnSpc>
                  <a:spcPts val="1979"/>
                </a:lnSpc>
              </a:pPr>
            </a:p>
          </p:txBody>
        </p:sp>
      </p:grpSp>
      <p:sp>
        <p:nvSpPr>
          <p:cNvPr name="TextBox 44" id="44"/>
          <p:cNvSpPr txBox="true"/>
          <p:nvPr/>
        </p:nvSpPr>
        <p:spPr>
          <a:xfrm rot="0">
            <a:off x="928850" y="2364157"/>
            <a:ext cx="11251455" cy="2552701"/>
          </a:xfrm>
          <a:prstGeom prst="rect">
            <a:avLst/>
          </a:prstGeom>
        </p:spPr>
        <p:txBody>
          <a:bodyPr anchor="t" rtlCol="false" tIns="0" lIns="0" bIns="0" rIns="0">
            <a:spAutoFit/>
          </a:bodyPr>
          <a:lstStyle/>
          <a:p>
            <a:pPr algn="l">
              <a:lnSpc>
                <a:spcPts val="5170"/>
              </a:lnSpc>
            </a:pPr>
            <a:r>
              <a:rPr lang="en-US" sz="4700" spc="-70" b="true">
                <a:solidFill>
                  <a:srgbClr val="000000"/>
                </a:solidFill>
                <a:latin typeface="Libre Baskerville Bold"/>
                <a:ea typeface="Libre Baskerville Bold"/>
                <a:cs typeface="Libre Baskerville Bold"/>
                <a:sym typeface="Libre Baskerville Bold"/>
              </a:rPr>
              <a:t>Automated Cloud </a:t>
            </a:r>
          </a:p>
          <a:p>
            <a:pPr algn="l">
              <a:lnSpc>
                <a:spcPts val="5170"/>
              </a:lnSpc>
            </a:pPr>
            <a:r>
              <a:rPr lang="en-US" sz="4700" spc="-70" b="true">
                <a:solidFill>
                  <a:srgbClr val="000000"/>
                </a:solidFill>
                <a:latin typeface="Libre Baskerville Bold"/>
                <a:ea typeface="Libre Baskerville Bold"/>
                <a:cs typeface="Libre Baskerville Bold"/>
                <a:sym typeface="Libre Baskerville Bold"/>
              </a:rPr>
              <a:t>Deployment Architecture </a:t>
            </a:r>
          </a:p>
          <a:p>
            <a:pPr algn="l">
              <a:lnSpc>
                <a:spcPts val="3960"/>
              </a:lnSpc>
            </a:pPr>
          </a:p>
          <a:p>
            <a:pPr algn="l">
              <a:lnSpc>
                <a:spcPts val="2970"/>
              </a:lnSpc>
            </a:pPr>
            <a:r>
              <a:rPr lang="en-US" sz="2700" spc="-40">
                <a:solidFill>
                  <a:srgbClr val="000000"/>
                </a:solidFill>
                <a:latin typeface="Libre Baskerville"/>
                <a:ea typeface="Libre Baskerville"/>
                <a:cs typeface="Libre Baskerville"/>
                <a:sym typeface="Libre Baskerville"/>
              </a:rPr>
              <a:t>Project fin module (Cloud &amp; Devops) - Task Manager REST API </a:t>
            </a:r>
          </a:p>
          <a:p>
            <a:pPr algn="l">
              <a:lnSpc>
                <a:spcPts val="3080"/>
              </a:lnSpc>
            </a:pPr>
          </a:p>
        </p:txBody>
      </p:sp>
      <p:sp>
        <p:nvSpPr>
          <p:cNvPr name="TextBox 45" id="45"/>
          <p:cNvSpPr txBox="true"/>
          <p:nvPr/>
        </p:nvSpPr>
        <p:spPr>
          <a:xfrm rot="0">
            <a:off x="1028700" y="5059351"/>
            <a:ext cx="6429669" cy="1249680"/>
          </a:xfrm>
          <a:prstGeom prst="rect">
            <a:avLst/>
          </a:prstGeom>
        </p:spPr>
        <p:txBody>
          <a:bodyPr anchor="t" rtlCol="false" tIns="0" lIns="0" bIns="0" rIns="0">
            <a:spAutoFit/>
          </a:bodyPr>
          <a:lstStyle/>
          <a:p>
            <a:pPr algn="l">
              <a:lnSpc>
                <a:spcPts val="2520"/>
              </a:lnSpc>
            </a:pPr>
            <a:r>
              <a:rPr lang="en-US" sz="1800" spc="18" b="true">
                <a:solidFill>
                  <a:srgbClr val="000000"/>
                </a:solidFill>
                <a:latin typeface="Inter Bold"/>
                <a:ea typeface="Inter Bold"/>
                <a:cs typeface="Inter Bold"/>
                <a:sym typeface="Inter Bold"/>
              </a:rPr>
              <a:t>LEGNIOUI SIFEDDINE</a:t>
            </a:r>
          </a:p>
          <a:p>
            <a:pPr algn="l">
              <a:lnSpc>
                <a:spcPts val="2520"/>
              </a:lnSpc>
            </a:pPr>
            <a:r>
              <a:rPr lang="en-US" sz="1800" spc="18" b="true">
                <a:solidFill>
                  <a:srgbClr val="000000"/>
                </a:solidFill>
                <a:latin typeface="Inter Bold"/>
                <a:ea typeface="Inter Bold"/>
                <a:cs typeface="Inter Bold"/>
                <a:sym typeface="Inter Bold"/>
              </a:rPr>
              <a:t>AYOUB AFRAOUI</a:t>
            </a:r>
          </a:p>
          <a:p>
            <a:pPr algn="l">
              <a:lnSpc>
                <a:spcPts val="2520"/>
              </a:lnSpc>
            </a:pPr>
            <a:r>
              <a:rPr lang="en-US" sz="1800" spc="18" b="true">
                <a:solidFill>
                  <a:srgbClr val="000000"/>
                </a:solidFill>
                <a:latin typeface="Inter Bold"/>
                <a:ea typeface="Inter Bold"/>
                <a:cs typeface="Inter Bold"/>
                <a:sym typeface="Inter Bold"/>
              </a:rPr>
              <a:t>OUSSAMA LOUAT</a:t>
            </a:r>
          </a:p>
          <a:p>
            <a:pPr algn="l">
              <a:lnSpc>
                <a:spcPts val="2520"/>
              </a:lnSpc>
            </a:pPr>
            <a:r>
              <a:rPr lang="en-US" sz="1800" spc="18" b="true">
                <a:solidFill>
                  <a:srgbClr val="000000"/>
                </a:solidFill>
                <a:latin typeface="Inter Bold"/>
                <a:ea typeface="Inter Bold"/>
                <a:cs typeface="Inter Bold"/>
                <a:sym typeface="Inter Bold"/>
              </a:rPr>
              <a:t>KAOUTAR BEJJAJI</a:t>
            </a:r>
          </a:p>
        </p:txBody>
      </p:sp>
      <p:sp>
        <p:nvSpPr>
          <p:cNvPr name="Freeform 46" id="46"/>
          <p:cNvSpPr/>
          <p:nvPr/>
        </p:nvSpPr>
        <p:spPr>
          <a:xfrm flipH="false" flipV="false" rot="0">
            <a:off x="10475733" y="1829723"/>
            <a:ext cx="6627554" cy="6627554"/>
          </a:xfrm>
          <a:custGeom>
            <a:avLst/>
            <a:gdLst/>
            <a:ahLst/>
            <a:cxnLst/>
            <a:rect r="r" b="b" t="t" l="l"/>
            <a:pathLst>
              <a:path h="6627554" w="6627554">
                <a:moveTo>
                  <a:pt x="0" y="0"/>
                </a:moveTo>
                <a:lnTo>
                  <a:pt x="6627553" y="0"/>
                </a:lnTo>
                <a:lnTo>
                  <a:pt x="6627553" y="6627554"/>
                </a:lnTo>
                <a:lnTo>
                  <a:pt x="0" y="6627554"/>
                </a:lnTo>
                <a:lnTo>
                  <a:pt x="0" y="0"/>
                </a:lnTo>
                <a:close/>
              </a:path>
            </a:pathLst>
          </a:custGeom>
          <a:blipFill>
            <a:blip r:embed="rId2"/>
            <a:stretch>
              <a:fillRect l="0" t="0" r="0" b="0"/>
            </a:stretch>
          </a:blipFill>
        </p:spPr>
      </p:sp>
      <p:sp>
        <p:nvSpPr>
          <p:cNvPr name="TextBox 47" id="47"/>
          <p:cNvSpPr txBox="true"/>
          <p:nvPr/>
        </p:nvSpPr>
        <p:spPr>
          <a:xfrm rot="0">
            <a:off x="7941779" y="7207597"/>
            <a:ext cx="3680905" cy="621030"/>
          </a:xfrm>
          <a:prstGeom prst="rect">
            <a:avLst/>
          </a:prstGeom>
        </p:spPr>
        <p:txBody>
          <a:bodyPr anchor="t" rtlCol="false" tIns="0" lIns="0" bIns="0" rIns="0">
            <a:spAutoFit/>
          </a:bodyPr>
          <a:lstStyle/>
          <a:p>
            <a:pPr algn="l">
              <a:lnSpc>
                <a:spcPts val="2520"/>
              </a:lnSpc>
            </a:pPr>
            <a:r>
              <a:rPr lang="en-US" sz="1800" spc="18" b="true">
                <a:solidFill>
                  <a:srgbClr val="000000"/>
                </a:solidFill>
                <a:latin typeface="Inter Bold"/>
                <a:ea typeface="Inter Bold"/>
                <a:cs typeface="Inter Bold"/>
                <a:sym typeface="Inter Bold"/>
              </a:rPr>
              <a:t>Encadré par :</a:t>
            </a:r>
          </a:p>
          <a:p>
            <a:pPr algn="l">
              <a:lnSpc>
                <a:spcPts val="2520"/>
              </a:lnSpc>
            </a:pPr>
            <a:r>
              <a:rPr lang="en-US" sz="1800" spc="18" b="true">
                <a:solidFill>
                  <a:srgbClr val="000000"/>
                </a:solidFill>
                <a:latin typeface="Inter Bold"/>
                <a:ea typeface="Inter Bold"/>
                <a:cs typeface="Inter Bold"/>
                <a:sym typeface="Inter Bold"/>
              </a:rPr>
              <a:t> Mme Faouzia Benabbou</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EEEEF"/>
        </a:solidFill>
      </p:bgPr>
    </p:bg>
    <p:spTree>
      <p:nvGrpSpPr>
        <p:cNvPr id="1" name=""/>
        <p:cNvGrpSpPr/>
        <p:nvPr/>
      </p:nvGrpSpPr>
      <p:grpSpPr>
        <a:xfrm>
          <a:off x="0" y="0"/>
          <a:ext cx="0" cy="0"/>
          <a:chOff x="0" y="0"/>
          <a:chExt cx="0" cy="0"/>
        </a:xfrm>
      </p:grpSpPr>
      <p:grpSp>
        <p:nvGrpSpPr>
          <p:cNvPr name="Group 2" id="2"/>
          <p:cNvGrpSpPr/>
          <p:nvPr/>
        </p:nvGrpSpPr>
        <p:grpSpPr>
          <a:xfrm rot="-5400000">
            <a:off x="0" y="8429301"/>
            <a:ext cx="1857699" cy="1857699"/>
            <a:chOff x="0" y="0"/>
            <a:chExt cx="2476932" cy="2476932"/>
          </a:xfrm>
        </p:grpSpPr>
        <p:grpSp>
          <p:nvGrpSpPr>
            <p:cNvPr name="Group 3" id="3"/>
            <p:cNvGrpSpPr/>
            <p:nvPr/>
          </p:nvGrpSpPr>
          <p:grpSpPr>
            <a:xfrm rot="0">
              <a:off x="0" y="0"/>
              <a:ext cx="1238466" cy="1238466"/>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5" id="5"/>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6" id="6"/>
            <p:cNvGrpSpPr/>
            <p:nvPr/>
          </p:nvGrpSpPr>
          <p:grpSpPr>
            <a:xfrm rot="0">
              <a:off x="0" y="1238466"/>
              <a:ext cx="1238466" cy="123846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8" id="8"/>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9" id="9"/>
            <p:cNvGrpSpPr/>
            <p:nvPr/>
          </p:nvGrpSpPr>
          <p:grpSpPr>
            <a:xfrm rot="0">
              <a:off x="1238466" y="0"/>
              <a:ext cx="1238466" cy="123846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11" id="11"/>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grpSp>
        <p:nvGrpSpPr>
          <p:cNvPr name="Group 12" id="12"/>
          <p:cNvGrpSpPr/>
          <p:nvPr/>
        </p:nvGrpSpPr>
        <p:grpSpPr>
          <a:xfrm rot="5400000">
            <a:off x="15736621" y="803205"/>
            <a:ext cx="1857699" cy="1857699"/>
            <a:chOff x="0" y="0"/>
            <a:chExt cx="2476932" cy="2476932"/>
          </a:xfrm>
        </p:grpSpPr>
        <p:grpSp>
          <p:nvGrpSpPr>
            <p:cNvPr name="Group 13" id="13"/>
            <p:cNvGrpSpPr/>
            <p:nvPr/>
          </p:nvGrpSpPr>
          <p:grpSpPr>
            <a:xfrm rot="0">
              <a:off x="0" y="0"/>
              <a:ext cx="1238466" cy="123846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15" id="15"/>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16" id="16"/>
            <p:cNvGrpSpPr/>
            <p:nvPr/>
          </p:nvGrpSpPr>
          <p:grpSpPr>
            <a:xfrm rot="0">
              <a:off x="0" y="1238466"/>
              <a:ext cx="1238466" cy="123846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18" id="18"/>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19" id="19"/>
            <p:cNvGrpSpPr/>
            <p:nvPr/>
          </p:nvGrpSpPr>
          <p:grpSpPr>
            <a:xfrm rot="0">
              <a:off x="1238466" y="0"/>
              <a:ext cx="1238466" cy="123846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21" id="21"/>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grpSp>
        <p:nvGrpSpPr>
          <p:cNvPr name="Group 22" id="22"/>
          <p:cNvGrpSpPr/>
          <p:nvPr/>
        </p:nvGrpSpPr>
        <p:grpSpPr>
          <a:xfrm rot="5400000">
            <a:off x="1133475" y="1333631"/>
            <a:ext cx="928850" cy="928850"/>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24" id="24"/>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sp>
        <p:nvSpPr>
          <p:cNvPr name="TextBox 25" id="25"/>
          <p:cNvSpPr txBox="true"/>
          <p:nvPr/>
        </p:nvSpPr>
        <p:spPr>
          <a:xfrm rot="0">
            <a:off x="2266704" y="2336879"/>
            <a:ext cx="5345914" cy="2101850"/>
          </a:xfrm>
          <a:prstGeom prst="rect">
            <a:avLst/>
          </a:prstGeom>
        </p:spPr>
        <p:txBody>
          <a:bodyPr anchor="t" rtlCol="false" tIns="0" lIns="0" bIns="0" rIns="0">
            <a:spAutoFit/>
          </a:bodyPr>
          <a:lstStyle/>
          <a:p>
            <a:pPr algn="l">
              <a:lnSpc>
                <a:spcPts val="5500"/>
              </a:lnSpc>
            </a:pPr>
            <a:r>
              <a:rPr lang="en-US" sz="5000" spc="-50" b="true">
                <a:solidFill>
                  <a:srgbClr val="000000"/>
                </a:solidFill>
                <a:latin typeface="Libre Baskerville Bold"/>
                <a:ea typeface="Libre Baskerville Bold"/>
                <a:cs typeface="Libre Baskerville Bold"/>
                <a:sym typeface="Libre Baskerville Bold"/>
              </a:rPr>
              <a:t>1. Introd</a:t>
            </a:r>
            <a:r>
              <a:rPr lang="en-US" sz="5000" spc="-50" b="true">
                <a:solidFill>
                  <a:srgbClr val="000000"/>
                </a:solidFill>
                <a:latin typeface="Libre Baskerville Bold"/>
                <a:ea typeface="Libre Baskerville Bold"/>
                <a:cs typeface="Libre Baskerville Bold"/>
                <a:sym typeface="Libre Baskerville Bold"/>
              </a:rPr>
              <a:t>uction et Objectifs</a:t>
            </a:r>
          </a:p>
          <a:p>
            <a:pPr algn="l">
              <a:lnSpc>
                <a:spcPts val="5500"/>
              </a:lnSpc>
            </a:pPr>
          </a:p>
        </p:txBody>
      </p:sp>
      <p:sp>
        <p:nvSpPr>
          <p:cNvPr name="TextBox 26" id="26"/>
          <p:cNvSpPr txBox="true"/>
          <p:nvPr/>
        </p:nvSpPr>
        <p:spPr>
          <a:xfrm rot="0">
            <a:off x="377600" y="9748607"/>
            <a:ext cx="4562061" cy="207645"/>
          </a:xfrm>
          <a:prstGeom prst="rect">
            <a:avLst/>
          </a:prstGeom>
        </p:spPr>
        <p:txBody>
          <a:bodyPr anchor="t" rtlCol="false" tIns="0" lIns="0" bIns="0" rIns="0">
            <a:spAutoFit/>
          </a:bodyPr>
          <a:lstStyle/>
          <a:p>
            <a:pPr algn="l">
              <a:lnSpc>
                <a:spcPts val="1679"/>
              </a:lnSpc>
            </a:pPr>
            <a:r>
              <a:rPr lang="en-US" sz="1199" b="true">
                <a:solidFill>
                  <a:srgbClr val="000000"/>
                </a:solidFill>
                <a:latin typeface="Inter Bold"/>
                <a:ea typeface="Inter Bold"/>
                <a:cs typeface="Inter Bold"/>
                <a:sym typeface="Inter Bold"/>
              </a:rPr>
              <a:t>www.reallygreatsite.com</a:t>
            </a:r>
          </a:p>
        </p:txBody>
      </p:sp>
      <p:grpSp>
        <p:nvGrpSpPr>
          <p:cNvPr name="Group 27" id="27"/>
          <p:cNvGrpSpPr/>
          <p:nvPr/>
        </p:nvGrpSpPr>
        <p:grpSpPr>
          <a:xfrm rot="0">
            <a:off x="377600" y="321611"/>
            <a:ext cx="2102569" cy="275311"/>
            <a:chOff x="0" y="0"/>
            <a:chExt cx="2803426" cy="367081"/>
          </a:xfrm>
        </p:grpSpPr>
        <p:sp>
          <p:nvSpPr>
            <p:cNvPr name="TextBox 28" id="28"/>
            <p:cNvSpPr txBox="true"/>
            <p:nvPr/>
          </p:nvSpPr>
          <p:spPr>
            <a:xfrm rot="0">
              <a:off x="0" y="19050"/>
              <a:ext cx="1508522" cy="341630"/>
            </a:xfrm>
            <a:prstGeom prst="rect">
              <a:avLst/>
            </a:prstGeom>
          </p:spPr>
          <p:txBody>
            <a:bodyPr anchor="t" rtlCol="false" tIns="0" lIns="0" bIns="0" rIns="0">
              <a:spAutoFit/>
            </a:bodyPr>
            <a:lstStyle/>
            <a:p>
              <a:pPr algn="ctr">
                <a:lnSpc>
                  <a:spcPts val="1979"/>
                </a:lnSpc>
                <a:spcBef>
                  <a:spcPct val="0"/>
                </a:spcBef>
              </a:pPr>
              <a:r>
                <a:rPr lang="en-US" b="true" sz="1799">
                  <a:solidFill>
                    <a:srgbClr val="000000"/>
                  </a:solidFill>
                  <a:latin typeface="Libre Baskerville Bold"/>
                  <a:ea typeface="Libre Baskerville Bold"/>
                  <a:cs typeface="Libre Baskerville Bold"/>
                  <a:sym typeface="Libre Baskerville Bold"/>
                </a:rPr>
                <a:t>Arowwai </a:t>
              </a:r>
            </a:p>
          </p:txBody>
        </p:sp>
        <p:sp>
          <p:nvSpPr>
            <p:cNvPr name="TextBox 29" id="29"/>
            <p:cNvSpPr txBox="true"/>
            <p:nvPr/>
          </p:nvSpPr>
          <p:spPr>
            <a:xfrm rot="0">
              <a:off x="1521222" y="89374"/>
              <a:ext cx="1282204" cy="277707"/>
            </a:xfrm>
            <a:prstGeom prst="rect">
              <a:avLst/>
            </a:prstGeom>
          </p:spPr>
          <p:txBody>
            <a:bodyPr anchor="t" rtlCol="false" tIns="0" lIns="0" bIns="0" rIns="0">
              <a:spAutoFit/>
            </a:bodyPr>
            <a:lstStyle/>
            <a:p>
              <a:pPr algn="ctr">
                <a:lnSpc>
                  <a:spcPts val="1540"/>
                </a:lnSpc>
                <a:spcBef>
                  <a:spcPct val="0"/>
                </a:spcBef>
              </a:pPr>
              <a:r>
                <a:rPr lang="en-US" sz="1400">
                  <a:solidFill>
                    <a:srgbClr val="929292"/>
                  </a:solidFill>
                  <a:latin typeface="Lovelo"/>
                  <a:ea typeface="Lovelo"/>
                  <a:cs typeface="Lovelo"/>
                  <a:sym typeface="Lovelo"/>
                </a:rPr>
                <a:t>Industries</a:t>
              </a:r>
            </a:p>
          </p:txBody>
        </p:sp>
      </p:grpSp>
      <p:sp>
        <p:nvSpPr>
          <p:cNvPr name="Freeform 30" id="30"/>
          <p:cNvSpPr/>
          <p:nvPr/>
        </p:nvSpPr>
        <p:spPr>
          <a:xfrm flipH="false" flipV="false" rot="0">
            <a:off x="13473098" y="5561585"/>
            <a:ext cx="4407718" cy="4407718"/>
          </a:xfrm>
          <a:custGeom>
            <a:avLst/>
            <a:gdLst/>
            <a:ahLst/>
            <a:cxnLst/>
            <a:rect r="r" b="b" t="t" l="l"/>
            <a:pathLst>
              <a:path h="4407718" w="4407718">
                <a:moveTo>
                  <a:pt x="0" y="0"/>
                </a:moveTo>
                <a:lnTo>
                  <a:pt x="4407718" y="0"/>
                </a:lnTo>
                <a:lnTo>
                  <a:pt x="4407718" y="4407718"/>
                </a:lnTo>
                <a:lnTo>
                  <a:pt x="0" y="4407718"/>
                </a:lnTo>
                <a:lnTo>
                  <a:pt x="0" y="0"/>
                </a:lnTo>
                <a:close/>
              </a:path>
            </a:pathLst>
          </a:custGeom>
          <a:blipFill>
            <a:blip r:embed="rId2"/>
            <a:stretch>
              <a:fillRect l="0" t="0" r="0" b="0"/>
            </a:stretch>
          </a:blipFill>
        </p:spPr>
      </p:sp>
      <p:sp>
        <p:nvSpPr>
          <p:cNvPr name="TextBox 31" id="31"/>
          <p:cNvSpPr txBox="true"/>
          <p:nvPr/>
        </p:nvSpPr>
        <p:spPr>
          <a:xfrm rot="0">
            <a:off x="2266704" y="4017910"/>
            <a:ext cx="8515131" cy="3541910"/>
          </a:xfrm>
          <a:prstGeom prst="rect">
            <a:avLst/>
          </a:prstGeom>
        </p:spPr>
        <p:txBody>
          <a:bodyPr anchor="t" rtlCol="false" tIns="0" lIns="0" bIns="0" rIns="0">
            <a:spAutoFit/>
          </a:bodyPr>
          <a:lstStyle/>
          <a:p>
            <a:pPr algn="l">
              <a:lnSpc>
                <a:spcPts val="3556"/>
              </a:lnSpc>
            </a:pPr>
            <a:r>
              <a:rPr lang="en-US" sz="2540" spc="-50">
                <a:solidFill>
                  <a:srgbClr val="000000"/>
                </a:solidFill>
                <a:latin typeface="Inter"/>
                <a:ea typeface="Inter"/>
                <a:cs typeface="Inter"/>
                <a:sym typeface="Inter"/>
              </a:rPr>
              <a:t>Le but de ce projet était de concevoir, d'automatiser et de déployer une infrastructure Cloud Native complète pour héberger une API REST (Task Manager) développée en Python (Flask). L'objectif principal était de mettre en pratique les principes fondamentaux du DevOps (IaC, Gestion de configuration, Conteneurisation, Orchestration, CI/CD) pour éliminer toute intervention manuelle suite à la validation du code.</a:t>
            </a:r>
          </a:p>
        </p:txBody>
      </p:sp>
      <p:grpSp>
        <p:nvGrpSpPr>
          <p:cNvPr name="Group 32" id="32"/>
          <p:cNvGrpSpPr/>
          <p:nvPr/>
        </p:nvGrpSpPr>
        <p:grpSpPr>
          <a:xfrm rot="5400000">
            <a:off x="5404085" y="8037505"/>
            <a:ext cx="928850" cy="1857699"/>
            <a:chOff x="0" y="0"/>
            <a:chExt cx="1238466" cy="2476932"/>
          </a:xfrm>
        </p:grpSpPr>
        <p:grpSp>
          <p:nvGrpSpPr>
            <p:cNvPr name="Group 33" id="33"/>
            <p:cNvGrpSpPr/>
            <p:nvPr/>
          </p:nvGrpSpPr>
          <p:grpSpPr>
            <a:xfrm rot="0">
              <a:off x="0" y="0"/>
              <a:ext cx="1238466" cy="1238466"/>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35" id="35"/>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36" id="36"/>
            <p:cNvGrpSpPr/>
            <p:nvPr/>
          </p:nvGrpSpPr>
          <p:grpSpPr>
            <a:xfrm rot="0">
              <a:off x="0" y="1238466"/>
              <a:ext cx="1238466" cy="1238466"/>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38" id="38"/>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grpSp>
        <p:nvGrpSpPr>
          <p:cNvPr name="Group 39" id="39"/>
          <p:cNvGrpSpPr/>
          <p:nvPr/>
        </p:nvGrpSpPr>
        <p:grpSpPr>
          <a:xfrm rot="5400000">
            <a:off x="5819437" y="464425"/>
            <a:ext cx="1857699" cy="928850"/>
            <a:chOff x="0" y="0"/>
            <a:chExt cx="2476932" cy="1238466"/>
          </a:xfrm>
        </p:grpSpPr>
        <p:grpSp>
          <p:nvGrpSpPr>
            <p:cNvPr name="Group 40" id="40"/>
            <p:cNvGrpSpPr/>
            <p:nvPr/>
          </p:nvGrpSpPr>
          <p:grpSpPr>
            <a:xfrm rot="0">
              <a:off x="0" y="0"/>
              <a:ext cx="1238466" cy="1238466"/>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42" id="42"/>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43" id="43"/>
            <p:cNvGrpSpPr/>
            <p:nvPr/>
          </p:nvGrpSpPr>
          <p:grpSpPr>
            <a:xfrm rot="0">
              <a:off x="1238466" y="0"/>
              <a:ext cx="1238466" cy="1238466"/>
              <a:chOff x="0" y="0"/>
              <a:chExt cx="812800" cy="812800"/>
            </a:xfrm>
          </p:grpSpPr>
          <p:sp>
            <p:nvSpPr>
              <p:cNvPr name="Freeform 44" id="4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45" id="45"/>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EEEEF"/>
        </a:solidFill>
      </p:bgPr>
    </p:bg>
    <p:spTree>
      <p:nvGrpSpPr>
        <p:cNvPr id="1" name=""/>
        <p:cNvGrpSpPr/>
        <p:nvPr/>
      </p:nvGrpSpPr>
      <p:grpSpPr>
        <a:xfrm>
          <a:off x="0" y="0"/>
          <a:ext cx="0" cy="0"/>
          <a:chOff x="0" y="0"/>
          <a:chExt cx="0" cy="0"/>
        </a:xfrm>
      </p:grpSpPr>
      <p:grpSp>
        <p:nvGrpSpPr>
          <p:cNvPr name="Group 2" id="2"/>
          <p:cNvGrpSpPr/>
          <p:nvPr/>
        </p:nvGrpSpPr>
        <p:grpSpPr>
          <a:xfrm rot="-5400000">
            <a:off x="0" y="8429301"/>
            <a:ext cx="1857699" cy="1857699"/>
            <a:chOff x="0" y="0"/>
            <a:chExt cx="2476932" cy="2476932"/>
          </a:xfrm>
        </p:grpSpPr>
        <p:grpSp>
          <p:nvGrpSpPr>
            <p:cNvPr name="Group 3" id="3"/>
            <p:cNvGrpSpPr/>
            <p:nvPr/>
          </p:nvGrpSpPr>
          <p:grpSpPr>
            <a:xfrm rot="0">
              <a:off x="0" y="0"/>
              <a:ext cx="1238466" cy="1238466"/>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5" id="5"/>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6" id="6"/>
            <p:cNvGrpSpPr/>
            <p:nvPr/>
          </p:nvGrpSpPr>
          <p:grpSpPr>
            <a:xfrm rot="0">
              <a:off x="0" y="1238466"/>
              <a:ext cx="1238466" cy="123846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8" id="8"/>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9" id="9"/>
            <p:cNvGrpSpPr/>
            <p:nvPr/>
          </p:nvGrpSpPr>
          <p:grpSpPr>
            <a:xfrm rot="0">
              <a:off x="1238466" y="0"/>
              <a:ext cx="1238466" cy="123846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11" id="11"/>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grpSp>
        <p:nvGrpSpPr>
          <p:cNvPr name="Group 12" id="12"/>
          <p:cNvGrpSpPr/>
          <p:nvPr/>
        </p:nvGrpSpPr>
        <p:grpSpPr>
          <a:xfrm rot="5400000">
            <a:off x="15736621" y="803205"/>
            <a:ext cx="1857699" cy="1857699"/>
            <a:chOff x="0" y="0"/>
            <a:chExt cx="2476932" cy="2476932"/>
          </a:xfrm>
        </p:grpSpPr>
        <p:grpSp>
          <p:nvGrpSpPr>
            <p:cNvPr name="Group 13" id="13"/>
            <p:cNvGrpSpPr/>
            <p:nvPr/>
          </p:nvGrpSpPr>
          <p:grpSpPr>
            <a:xfrm rot="0">
              <a:off x="0" y="0"/>
              <a:ext cx="1238466" cy="123846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15" id="15"/>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16" id="16"/>
            <p:cNvGrpSpPr/>
            <p:nvPr/>
          </p:nvGrpSpPr>
          <p:grpSpPr>
            <a:xfrm rot="0">
              <a:off x="0" y="1238466"/>
              <a:ext cx="1238466" cy="123846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18" id="18"/>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19" id="19"/>
            <p:cNvGrpSpPr/>
            <p:nvPr/>
          </p:nvGrpSpPr>
          <p:grpSpPr>
            <a:xfrm rot="0">
              <a:off x="1238466" y="0"/>
              <a:ext cx="1238466" cy="123846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21" id="21"/>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grpSp>
        <p:nvGrpSpPr>
          <p:cNvPr name="Group 22" id="22"/>
          <p:cNvGrpSpPr/>
          <p:nvPr/>
        </p:nvGrpSpPr>
        <p:grpSpPr>
          <a:xfrm rot="5400000">
            <a:off x="1133475" y="1333631"/>
            <a:ext cx="928850" cy="928850"/>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24" id="24"/>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sp>
        <p:nvSpPr>
          <p:cNvPr name="TextBox 25" id="25"/>
          <p:cNvSpPr txBox="true"/>
          <p:nvPr/>
        </p:nvSpPr>
        <p:spPr>
          <a:xfrm rot="0">
            <a:off x="1428885" y="3043530"/>
            <a:ext cx="6150346" cy="1406525"/>
          </a:xfrm>
          <a:prstGeom prst="rect">
            <a:avLst/>
          </a:prstGeom>
        </p:spPr>
        <p:txBody>
          <a:bodyPr anchor="t" rtlCol="false" tIns="0" lIns="0" bIns="0" rIns="0">
            <a:spAutoFit/>
          </a:bodyPr>
          <a:lstStyle/>
          <a:p>
            <a:pPr algn="l">
              <a:lnSpc>
                <a:spcPts val="5500"/>
              </a:lnSpc>
            </a:pPr>
            <a:r>
              <a:rPr lang="en-US" sz="5000" spc="-50" b="true">
                <a:solidFill>
                  <a:srgbClr val="000000"/>
                </a:solidFill>
                <a:latin typeface="Libre Baskerville Bold"/>
                <a:ea typeface="Libre Baskerville Bold"/>
                <a:cs typeface="Libre Baskerville Bold"/>
                <a:sym typeface="Libre Baskerville Bold"/>
              </a:rPr>
              <a:t>Vis</a:t>
            </a:r>
            <a:r>
              <a:rPr lang="en-US" sz="5000" spc="-50" b="true">
                <a:solidFill>
                  <a:srgbClr val="000000"/>
                </a:solidFill>
                <a:latin typeface="Libre Baskerville Bold"/>
                <a:ea typeface="Libre Baskerville Bold"/>
                <a:cs typeface="Libre Baskerville Bold"/>
                <a:sym typeface="Libre Baskerville Bold"/>
              </a:rPr>
              <a:t>ion &amp; Objectifs Points clés :</a:t>
            </a:r>
          </a:p>
        </p:txBody>
      </p:sp>
      <p:sp>
        <p:nvSpPr>
          <p:cNvPr name="TextBox 26" id="26"/>
          <p:cNvSpPr txBox="true"/>
          <p:nvPr/>
        </p:nvSpPr>
        <p:spPr>
          <a:xfrm rot="0">
            <a:off x="377600" y="9748607"/>
            <a:ext cx="4562061" cy="207645"/>
          </a:xfrm>
          <a:prstGeom prst="rect">
            <a:avLst/>
          </a:prstGeom>
        </p:spPr>
        <p:txBody>
          <a:bodyPr anchor="t" rtlCol="false" tIns="0" lIns="0" bIns="0" rIns="0">
            <a:spAutoFit/>
          </a:bodyPr>
          <a:lstStyle/>
          <a:p>
            <a:pPr algn="l">
              <a:lnSpc>
                <a:spcPts val="1679"/>
              </a:lnSpc>
            </a:pPr>
            <a:r>
              <a:rPr lang="en-US" sz="1199" b="true">
                <a:solidFill>
                  <a:srgbClr val="000000"/>
                </a:solidFill>
                <a:latin typeface="Inter Bold"/>
                <a:ea typeface="Inter Bold"/>
                <a:cs typeface="Inter Bold"/>
                <a:sym typeface="Inter Bold"/>
              </a:rPr>
              <a:t>www.reallygreatsite.com</a:t>
            </a:r>
          </a:p>
        </p:txBody>
      </p:sp>
      <p:grpSp>
        <p:nvGrpSpPr>
          <p:cNvPr name="Group 27" id="27"/>
          <p:cNvGrpSpPr/>
          <p:nvPr/>
        </p:nvGrpSpPr>
        <p:grpSpPr>
          <a:xfrm rot="0">
            <a:off x="377600" y="321611"/>
            <a:ext cx="2102569" cy="275311"/>
            <a:chOff x="0" y="0"/>
            <a:chExt cx="2803426" cy="367081"/>
          </a:xfrm>
        </p:grpSpPr>
        <p:sp>
          <p:nvSpPr>
            <p:cNvPr name="TextBox 28" id="28"/>
            <p:cNvSpPr txBox="true"/>
            <p:nvPr/>
          </p:nvSpPr>
          <p:spPr>
            <a:xfrm rot="0">
              <a:off x="0" y="19050"/>
              <a:ext cx="1508522" cy="341630"/>
            </a:xfrm>
            <a:prstGeom prst="rect">
              <a:avLst/>
            </a:prstGeom>
          </p:spPr>
          <p:txBody>
            <a:bodyPr anchor="t" rtlCol="false" tIns="0" lIns="0" bIns="0" rIns="0">
              <a:spAutoFit/>
            </a:bodyPr>
            <a:lstStyle/>
            <a:p>
              <a:pPr algn="ctr">
                <a:lnSpc>
                  <a:spcPts val="1979"/>
                </a:lnSpc>
                <a:spcBef>
                  <a:spcPct val="0"/>
                </a:spcBef>
              </a:pPr>
              <a:r>
                <a:rPr lang="en-US" b="true" sz="1799">
                  <a:solidFill>
                    <a:srgbClr val="000000"/>
                  </a:solidFill>
                  <a:latin typeface="Libre Baskerville Bold"/>
                  <a:ea typeface="Libre Baskerville Bold"/>
                  <a:cs typeface="Libre Baskerville Bold"/>
                  <a:sym typeface="Libre Baskerville Bold"/>
                </a:rPr>
                <a:t>Arowwai </a:t>
              </a:r>
            </a:p>
          </p:txBody>
        </p:sp>
        <p:sp>
          <p:nvSpPr>
            <p:cNvPr name="TextBox 29" id="29"/>
            <p:cNvSpPr txBox="true"/>
            <p:nvPr/>
          </p:nvSpPr>
          <p:spPr>
            <a:xfrm rot="0">
              <a:off x="1521222" y="89374"/>
              <a:ext cx="1282204" cy="277707"/>
            </a:xfrm>
            <a:prstGeom prst="rect">
              <a:avLst/>
            </a:prstGeom>
          </p:spPr>
          <p:txBody>
            <a:bodyPr anchor="t" rtlCol="false" tIns="0" lIns="0" bIns="0" rIns="0">
              <a:spAutoFit/>
            </a:bodyPr>
            <a:lstStyle/>
            <a:p>
              <a:pPr algn="ctr">
                <a:lnSpc>
                  <a:spcPts val="1540"/>
                </a:lnSpc>
                <a:spcBef>
                  <a:spcPct val="0"/>
                </a:spcBef>
              </a:pPr>
              <a:r>
                <a:rPr lang="en-US" sz="1400">
                  <a:solidFill>
                    <a:srgbClr val="929292"/>
                  </a:solidFill>
                  <a:latin typeface="Lovelo"/>
                  <a:ea typeface="Lovelo"/>
                  <a:cs typeface="Lovelo"/>
                  <a:sym typeface="Lovelo"/>
                </a:rPr>
                <a:t>Industries</a:t>
              </a:r>
            </a:p>
          </p:txBody>
        </p:sp>
      </p:grpSp>
      <p:sp>
        <p:nvSpPr>
          <p:cNvPr name="Freeform 30" id="30"/>
          <p:cNvSpPr/>
          <p:nvPr/>
        </p:nvSpPr>
        <p:spPr>
          <a:xfrm flipH="false" flipV="false" rot="0">
            <a:off x="13473098" y="5561585"/>
            <a:ext cx="4407718" cy="4407718"/>
          </a:xfrm>
          <a:custGeom>
            <a:avLst/>
            <a:gdLst/>
            <a:ahLst/>
            <a:cxnLst/>
            <a:rect r="r" b="b" t="t" l="l"/>
            <a:pathLst>
              <a:path h="4407718" w="4407718">
                <a:moveTo>
                  <a:pt x="0" y="0"/>
                </a:moveTo>
                <a:lnTo>
                  <a:pt x="4407718" y="0"/>
                </a:lnTo>
                <a:lnTo>
                  <a:pt x="4407718" y="4407718"/>
                </a:lnTo>
                <a:lnTo>
                  <a:pt x="0" y="4407718"/>
                </a:lnTo>
                <a:lnTo>
                  <a:pt x="0" y="0"/>
                </a:lnTo>
                <a:close/>
              </a:path>
            </a:pathLst>
          </a:custGeom>
          <a:blipFill>
            <a:blip r:embed="rId2"/>
            <a:stretch>
              <a:fillRect l="0" t="0" r="0" b="0"/>
            </a:stretch>
          </a:blipFill>
        </p:spPr>
      </p:sp>
      <p:grpSp>
        <p:nvGrpSpPr>
          <p:cNvPr name="Group 31" id="31"/>
          <p:cNvGrpSpPr/>
          <p:nvPr/>
        </p:nvGrpSpPr>
        <p:grpSpPr>
          <a:xfrm rot="0">
            <a:off x="7928833" y="2532358"/>
            <a:ext cx="7432362" cy="4806885"/>
            <a:chOff x="0" y="0"/>
            <a:chExt cx="1957495" cy="1266011"/>
          </a:xfrm>
        </p:grpSpPr>
        <p:sp>
          <p:nvSpPr>
            <p:cNvPr name="Freeform 32" id="32"/>
            <p:cNvSpPr/>
            <p:nvPr/>
          </p:nvSpPr>
          <p:spPr>
            <a:xfrm flipH="false" flipV="false" rot="0">
              <a:off x="0" y="0"/>
              <a:ext cx="1957494" cy="1266011"/>
            </a:xfrm>
            <a:custGeom>
              <a:avLst/>
              <a:gdLst/>
              <a:ahLst/>
              <a:cxnLst/>
              <a:rect r="r" b="b" t="t" l="l"/>
              <a:pathLst>
                <a:path h="1266011" w="1957494">
                  <a:moveTo>
                    <a:pt x="31250" y="0"/>
                  </a:moveTo>
                  <a:lnTo>
                    <a:pt x="1926245" y="0"/>
                  </a:lnTo>
                  <a:cubicBezTo>
                    <a:pt x="1943504" y="0"/>
                    <a:pt x="1957494" y="13991"/>
                    <a:pt x="1957494" y="31250"/>
                  </a:cubicBezTo>
                  <a:lnTo>
                    <a:pt x="1957494" y="1234761"/>
                  </a:lnTo>
                  <a:cubicBezTo>
                    <a:pt x="1957494" y="1243049"/>
                    <a:pt x="1954202" y="1250998"/>
                    <a:pt x="1948342" y="1256858"/>
                  </a:cubicBezTo>
                  <a:cubicBezTo>
                    <a:pt x="1942481" y="1262718"/>
                    <a:pt x="1934533" y="1266011"/>
                    <a:pt x="1926245" y="1266011"/>
                  </a:cubicBezTo>
                  <a:lnTo>
                    <a:pt x="31250" y="1266011"/>
                  </a:lnTo>
                  <a:cubicBezTo>
                    <a:pt x="13991" y="1266011"/>
                    <a:pt x="0" y="1252020"/>
                    <a:pt x="0" y="1234761"/>
                  </a:cubicBezTo>
                  <a:lnTo>
                    <a:pt x="0" y="31250"/>
                  </a:lnTo>
                  <a:cubicBezTo>
                    <a:pt x="0" y="13991"/>
                    <a:pt x="13991" y="0"/>
                    <a:pt x="31250" y="0"/>
                  </a:cubicBezTo>
                  <a:close/>
                </a:path>
              </a:pathLst>
            </a:custGeom>
            <a:solidFill>
              <a:srgbClr val="FFFFFF">
                <a:alpha val="60784"/>
              </a:srgbClr>
            </a:solidFill>
            <a:ln cap="rnd">
              <a:noFill/>
              <a:prstDash val="sysDot"/>
              <a:round/>
            </a:ln>
          </p:spPr>
        </p:sp>
        <p:sp>
          <p:nvSpPr>
            <p:cNvPr name="TextBox 33" id="33"/>
            <p:cNvSpPr txBox="true"/>
            <p:nvPr/>
          </p:nvSpPr>
          <p:spPr>
            <a:xfrm>
              <a:off x="0" y="19050"/>
              <a:ext cx="1957495" cy="1246961"/>
            </a:xfrm>
            <a:prstGeom prst="rect">
              <a:avLst/>
            </a:prstGeom>
          </p:spPr>
          <p:txBody>
            <a:bodyPr anchor="ctr" rtlCol="false" tIns="50800" lIns="50800" bIns="50800" rIns="50800"/>
            <a:lstStyle/>
            <a:p>
              <a:pPr algn="ctr">
                <a:lnSpc>
                  <a:spcPts val="1979"/>
                </a:lnSpc>
              </a:pPr>
            </a:p>
          </p:txBody>
        </p:sp>
      </p:grpSp>
      <p:sp>
        <p:nvSpPr>
          <p:cNvPr name="TextBox 34" id="34"/>
          <p:cNvSpPr txBox="true"/>
          <p:nvPr/>
        </p:nvSpPr>
        <p:spPr>
          <a:xfrm rot="0">
            <a:off x="8448923" y="2754894"/>
            <a:ext cx="6392183" cy="4323714"/>
          </a:xfrm>
          <a:prstGeom prst="rect">
            <a:avLst/>
          </a:prstGeom>
        </p:spPr>
        <p:txBody>
          <a:bodyPr anchor="t" rtlCol="false" tIns="0" lIns="0" bIns="0" rIns="0">
            <a:spAutoFit/>
          </a:bodyPr>
          <a:lstStyle/>
          <a:p>
            <a:pPr algn="l" marL="410218" indent="-205109" lvl="1">
              <a:lnSpc>
                <a:spcPts val="2660"/>
              </a:lnSpc>
              <a:buFont typeface="Arial"/>
              <a:buChar char="•"/>
            </a:pPr>
            <a:r>
              <a:rPr lang="en-US" b="true" sz="1900" spc="-38">
                <a:solidFill>
                  <a:srgbClr val="000000"/>
                </a:solidFill>
                <a:latin typeface="Inter Bold"/>
                <a:ea typeface="Inter Bold"/>
                <a:cs typeface="Inter Bold"/>
                <a:sym typeface="Inter Bold"/>
              </a:rPr>
              <a:t>Objectif </a:t>
            </a:r>
            <a:r>
              <a:rPr lang="en-US" sz="1900" spc="-38">
                <a:solidFill>
                  <a:srgbClr val="000000"/>
                </a:solidFill>
                <a:latin typeface="Inter"/>
                <a:ea typeface="Inter"/>
                <a:cs typeface="Inter"/>
                <a:sym typeface="Inter"/>
              </a:rPr>
              <a:t>: Migrer une API REST depuis un environnement de développement local vers un environnement Cloud entièrement automatisé.</a:t>
            </a:r>
          </a:p>
          <a:p>
            <a:pPr algn="l" marL="410218" indent="-205109" lvl="1">
              <a:lnSpc>
                <a:spcPts val="2660"/>
              </a:lnSpc>
              <a:buFont typeface="Arial"/>
              <a:buChar char="•"/>
            </a:pPr>
            <a:r>
              <a:rPr lang="en-US" b="true" sz="1900" spc="-38">
                <a:solidFill>
                  <a:srgbClr val="000000"/>
                </a:solidFill>
                <a:latin typeface="Inter Bold"/>
                <a:ea typeface="Inter Bold"/>
                <a:cs typeface="Inter Bold"/>
                <a:sym typeface="Inter Bold"/>
              </a:rPr>
              <a:t>Infrastructure as Code (IaC</a:t>
            </a:r>
            <a:r>
              <a:rPr lang="en-US" sz="1900" spc="-38">
                <a:solidFill>
                  <a:srgbClr val="000000"/>
                </a:solidFill>
                <a:latin typeface="Inter"/>
                <a:ea typeface="Inter"/>
                <a:cs typeface="Inter"/>
                <a:sym typeface="Inter"/>
              </a:rPr>
              <a:t>) : Éliminer la création manuelle de serveurs via une plateforme cloud.</a:t>
            </a:r>
          </a:p>
          <a:p>
            <a:pPr algn="l" marL="410218" indent="-205109" lvl="1">
              <a:lnSpc>
                <a:spcPts val="2660"/>
              </a:lnSpc>
              <a:buFont typeface="Arial"/>
              <a:buChar char="•"/>
            </a:pPr>
            <a:r>
              <a:rPr lang="en-US" b="true" sz="1900" spc="-38">
                <a:solidFill>
                  <a:srgbClr val="000000"/>
                </a:solidFill>
                <a:latin typeface="Inter Bold"/>
                <a:ea typeface="Inter Bold"/>
                <a:cs typeface="Inter Bold"/>
                <a:sym typeface="Inter Bold"/>
              </a:rPr>
              <a:t>Conteneurisation </a:t>
            </a:r>
            <a:r>
              <a:rPr lang="en-US" sz="1900" spc="-38">
                <a:solidFill>
                  <a:srgbClr val="000000"/>
                </a:solidFill>
                <a:latin typeface="Inter"/>
                <a:ea typeface="Inter"/>
                <a:cs typeface="Inter"/>
                <a:sym typeface="Inter"/>
              </a:rPr>
              <a:t>: Garantir que l'application s'exécute de façon identique partout.</a:t>
            </a:r>
          </a:p>
          <a:p>
            <a:pPr algn="l" marL="410218" indent="-205109" lvl="1">
              <a:lnSpc>
                <a:spcPts val="2660"/>
              </a:lnSpc>
              <a:buFont typeface="Arial"/>
              <a:buChar char="•"/>
            </a:pPr>
            <a:r>
              <a:rPr lang="en-US" b="true" sz="1900" spc="-38">
                <a:solidFill>
                  <a:srgbClr val="000000"/>
                </a:solidFill>
                <a:latin typeface="Inter Bold"/>
                <a:ea typeface="Inter Bold"/>
                <a:cs typeface="Inter Bold"/>
                <a:sym typeface="Inter Bold"/>
              </a:rPr>
              <a:t>Haute Disponibilité </a:t>
            </a:r>
            <a:r>
              <a:rPr lang="en-US" sz="1900" spc="-38">
                <a:solidFill>
                  <a:srgbClr val="000000"/>
                </a:solidFill>
                <a:latin typeface="Inter"/>
                <a:ea typeface="Inter"/>
                <a:cs typeface="Inter"/>
                <a:sym typeface="Inter"/>
              </a:rPr>
              <a:t>: Utiliser un cluster Kubernetes (Architecture Master/Worker).</a:t>
            </a:r>
          </a:p>
          <a:p>
            <a:pPr algn="l" marL="410218" indent="-205109" lvl="1">
              <a:lnSpc>
                <a:spcPts val="2660"/>
              </a:lnSpc>
              <a:buFont typeface="Arial"/>
              <a:buChar char="•"/>
            </a:pPr>
            <a:r>
              <a:rPr lang="en-US" b="true" sz="1900" spc="-38">
                <a:solidFill>
                  <a:srgbClr val="000000"/>
                </a:solidFill>
                <a:latin typeface="Inter Bold"/>
                <a:ea typeface="Inter Bold"/>
                <a:cs typeface="Inter Bold"/>
                <a:sym typeface="Inter Bold"/>
              </a:rPr>
              <a:t>Automatisation CI/CD </a:t>
            </a:r>
            <a:r>
              <a:rPr lang="en-US" sz="1900" spc="-38">
                <a:solidFill>
                  <a:srgbClr val="000000"/>
                </a:solidFill>
                <a:latin typeface="Inter"/>
                <a:ea typeface="Inter"/>
                <a:cs typeface="Inter"/>
                <a:sym typeface="Inter"/>
              </a:rPr>
              <a:t>: Atteindre le "Zero-Downtime" (déploiements sans coupure) directement depuis GitHub.</a:t>
            </a:r>
          </a:p>
          <a:p>
            <a:pPr algn="l">
              <a:lnSpc>
                <a:spcPts val="2660"/>
              </a:lnSpc>
            </a:pPr>
          </a:p>
        </p:txBody>
      </p:sp>
      <p:grpSp>
        <p:nvGrpSpPr>
          <p:cNvPr name="Group 35" id="35"/>
          <p:cNvGrpSpPr/>
          <p:nvPr/>
        </p:nvGrpSpPr>
        <p:grpSpPr>
          <a:xfrm rot="5400000">
            <a:off x="5404085" y="8037505"/>
            <a:ext cx="928850" cy="1857699"/>
            <a:chOff x="0" y="0"/>
            <a:chExt cx="1238466" cy="2476932"/>
          </a:xfrm>
        </p:grpSpPr>
        <p:grpSp>
          <p:nvGrpSpPr>
            <p:cNvPr name="Group 36" id="36"/>
            <p:cNvGrpSpPr/>
            <p:nvPr/>
          </p:nvGrpSpPr>
          <p:grpSpPr>
            <a:xfrm rot="0">
              <a:off x="0" y="0"/>
              <a:ext cx="1238466" cy="1238466"/>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38" id="38"/>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39" id="39"/>
            <p:cNvGrpSpPr/>
            <p:nvPr/>
          </p:nvGrpSpPr>
          <p:grpSpPr>
            <a:xfrm rot="0">
              <a:off x="0" y="1238466"/>
              <a:ext cx="1238466" cy="1238466"/>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41" id="41"/>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grpSp>
        <p:nvGrpSpPr>
          <p:cNvPr name="Group 42" id="42"/>
          <p:cNvGrpSpPr/>
          <p:nvPr/>
        </p:nvGrpSpPr>
        <p:grpSpPr>
          <a:xfrm rot="5400000">
            <a:off x="5819437" y="464425"/>
            <a:ext cx="1857699" cy="928850"/>
            <a:chOff x="0" y="0"/>
            <a:chExt cx="2476932" cy="1238466"/>
          </a:xfrm>
        </p:grpSpPr>
        <p:grpSp>
          <p:nvGrpSpPr>
            <p:cNvPr name="Group 43" id="43"/>
            <p:cNvGrpSpPr/>
            <p:nvPr/>
          </p:nvGrpSpPr>
          <p:grpSpPr>
            <a:xfrm rot="0">
              <a:off x="0" y="0"/>
              <a:ext cx="1238466" cy="1238466"/>
              <a:chOff x="0" y="0"/>
              <a:chExt cx="812800" cy="812800"/>
            </a:xfrm>
          </p:grpSpPr>
          <p:sp>
            <p:nvSpPr>
              <p:cNvPr name="Freeform 44" id="4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45" id="45"/>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46" id="46"/>
            <p:cNvGrpSpPr/>
            <p:nvPr/>
          </p:nvGrpSpPr>
          <p:grpSpPr>
            <a:xfrm rot="0">
              <a:off x="1238466" y="0"/>
              <a:ext cx="1238466" cy="1238466"/>
              <a:chOff x="0" y="0"/>
              <a:chExt cx="812800" cy="812800"/>
            </a:xfrm>
          </p:grpSpPr>
          <p:sp>
            <p:nvSpPr>
              <p:cNvPr name="Freeform 47" id="4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48" id="48"/>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EEEEF"/>
        </a:solidFill>
      </p:bgPr>
    </p:bg>
    <p:spTree>
      <p:nvGrpSpPr>
        <p:cNvPr id="1" name=""/>
        <p:cNvGrpSpPr/>
        <p:nvPr/>
      </p:nvGrpSpPr>
      <p:grpSpPr>
        <a:xfrm>
          <a:off x="0" y="0"/>
          <a:ext cx="0" cy="0"/>
          <a:chOff x="0" y="0"/>
          <a:chExt cx="0" cy="0"/>
        </a:xfrm>
      </p:grpSpPr>
      <p:grpSp>
        <p:nvGrpSpPr>
          <p:cNvPr name="Group 2" id="2"/>
          <p:cNvGrpSpPr/>
          <p:nvPr/>
        </p:nvGrpSpPr>
        <p:grpSpPr>
          <a:xfrm rot="0">
            <a:off x="2321448" y="-464987"/>
            <a:ext cx="3522171" cy="3522171"/>
            <a:chOff x="0" y="0"/>
            <a:chExt cx="4696228" cy="4696228"/>
          </a:xfrm>
        </p:grpSpPr>
        <p:grpSp>
          <p:nvGrpSpPr>
            <p:cNvPr name="Group 3" id="3"/>
            <p:cNvGrpSpPr/>
            <p:nvPr/>
          </p:nvGrpSpPr>
          <p:grpSpPr>
            <a:xfrm rot="5400000">
              <a:off x="1565409" y="0"/>
              <a:ext cx="1565409" cy="1565409"/>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5" id="5"/>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grpSp>
          <p:nvGrpSpPr>
            <p:cNvPr name="Group 6" id="6"/>
            <p:cNvGrpSpPr/>
            <p:nvPr/>
          </p:nvGrpSpPr>
          <p:grpSpPr>
            <a:xfrm rot="5400000">
              <a:off x="3130819" y="1565409"/>
              <a:ext cx="1565409" cy="1565409"/>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8" id="8"/>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grpSp>
          <p:nvGrpSpPr>
            <p:cNvPr name="Group 9" id="9"/>
            <p:cNvGrpSpPr/>
            <p:nvPr/>
          </p:nvGrpSpPr>
          <p:grpSpPr>
            <a:xfrm rot="5400000">
              <a:off x="1565409" y="3130819"/>
              <a:ext cx="1565409" cy="1565409"/>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11" id="11"/>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grpSp>
          <p:nvGrpSpPr>
            <p:cNvPr name="Group 12" id="12"/>
            <p:cNvGrpSpPr/>
            <p:nvPr/>
          </p:nvGrpSpPr>
          <p:grpSpPr>
            <a:xfrm rot="5400000">
              <a:off x="0" y="1565409"/>
              <a:ext cx="1565409" cy="156540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14" id="14"/>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grpSp>
      <p:sp>
        <p:nvSpPr>
          <p:cNvPr name="TextBox 15" id="15"/>
          <p:cNvSpPr txBox="true"/>
          <p:nvPr/>
        </p:nvSpPr>
        <p:spPr>
          <a:xfrm rot="0">
            <a:off x="2753682" y="1596580"/>
            <a:ext cx="12781643" cy="313690"/>
          </a:xfrm>
          <a:prstGeom prst="rect">
            <a:avLst/>
          </a:prstGeom>
        </p:spPr>
        <p:txBody>
          <a:bodyPr anchor="t" rtlCol="false" tIns="0" lIns="0" bIns="0" rIns="0">
            <a:spAutoFit/>
          </a:bodyPr>
          <a:lstStyle/>
          <a:p>
            <a:pPr algn="ctr" marL="0" indent="0" lvl="0">
              <a:lnSpc>
                <a:spcPts val="2419"/>
              </a:lnSpc>
              <a:spcBef>
                <a:spcPct val="0"/>
              </a:spcBef>
            </a:pPr>
            <a:r>
              <a:rPr lang="en-US" b="true" sz="2199">
                <a:solidFill>
                  <a:srgbClr val="FF5757"/>
                </a:solidFill>
                <a:latin typeface="Inter Bold"/>
                <a:ea typeface="Inter Bold"/>
                <a:cs typeface="Inter Bold"/>
                <a:sym typeface="Inter Bold"/>
              </a:rPr>
              <a:t>http://4.223.64.5:30080/</a:t>
            </a:r>
          </a:p>
        </p:txBody>
      </p:sp>
      <p:grpSp>
        <p:nvGrpSpPr>
          <p:cNvPr name="Group 16" id="16"/>
          <p:cNvGrpSpPr/>
          <p:nvPr/>
        </p:nvGrpSpPr>
        <p:grpSpPr>
          <a:xfrm rot="-5400000">
            <a:off x="0" y="8429301"/>
            <a:ext cx="1857699" cy="1857699"/>
            <a:chOff x="0" y="0"/>
            <a:chExt cx="2476932" cy="2476932"/>
          </a:xfrm>
        </p:grpSpPr>
        <p:grpSp>
          <p:nvGrpSpPr>
            <p:cNvPr name="Group 17" id="17"/>
            <p:cNvGrpSpPr/>
            <p:nvPr/>
          </p:nvGrpSpPr>
          <p:grpSpPr>
            <a:xfrm rot="0">
              <a:off x="0" y="0"/>
              <a:ext cx="1238466" cy="1238466"/>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19" id="19"/>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20" id="20"/>
            <p:cNvGrpSpPr/>
            <p:nvPr/>
          </p:nvGrpSpPr>
          <p:grpSpPr>
            <a:xfrm rot="0">
              <a:off x="0" y="1238466"/>
              <a:ext cx="1238466" cy="1238466"/>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22" id="22"/>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23" id="23"/>
            <p:cNvGrpSpPr/>
            <p:nvPr/>
          </p:nvGrpSpPr>
          <p:grpSpPr>
            <a:xfrm rot="0">
              <a:off x="1238466" y="0"/>
              <a:ext cx="1238466" cy="1238466"/>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25" id="25"/>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grpSp>
        <p:nvGrpSpPr>
          <p:cNvPr name="Group 26" id="26"/>
          <p:cNvGrpSpPr/>
          <p:nvPr/>
        </p:nvGrpSpPr>
        <p:grpSpPr>
          <a:xfrm rot="5400000">
            <a:off x="15736621" y="803205"/>
            <a:ext cx="1857699" cy="1857699"/>
            <a:chOff x="0" y="0"/>
            <a:chExt cx="2476932" cy="2476932"/>
          </a:xfrm>
        </p:grpSpPr>
        <p:grpSp>
          <p:nvGrpSpPr>
            <p:cNvPr name="Group 27" id="27"/>
            <p:cNvGrpSpPr/>
            <p:nvPr/>
          </p:nvGrpSpPr>
          <p:grpSpPr>
            <a:xfrm rot="0">
              <a:off x="0" y="0"/>
              <a:ext cx="1238466" cy="1238466"/>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29" id="29"/>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30" id="30"/>
            <p:cNvGrpSpPr/>
            <p:nvPr/>
          </p:nvGrpSpPr>
          <p:grpSpPr>
            <a:xfrm rot="0">
              <a:off x="0" y="1238466"/>
              <a:ext cx="1238466" cy="1238466"/>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32" id="32"/>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33" id="33"/>
            <p:cNvGrpSpPr/>
            <p:nvPr/>
          </p:nvGrpSpPr>
          <p:grpSpPr>
            <a:xfrm rot="0">
              <a:off x="1238466" y="0"/>
              <a:ext cx="1238466" cy="1238466"/>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35" id="35"/>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grpSp>
        <p:nvGrpSpPr>
          <p:cNvPr name="Group 36" id="36"/>
          <p:cNvGrpSpPr/>
          <p:nvPr/>
        </p:nvGrpSpPr>
        <p:grpSpPr>
          <a:xfrm rot="0">
            <a:off x="0" y="1857497"/>
            <a:ext cx="3522171" cy="3522171"/>
            <a:chOff x="0" y="0"/>
            <a:chExt cx="4696228" cy="4696228"/>
          </a:xfrm>
        </p:grpSpPr>
        <p:grpSp>
          <p:nvGrpSpPr>
            <p:cNvPr name="Group 37" id="37"/>
            <p:cNvGrpSpPr/>
            <p:nvPr/>
          </p:nvGrpSpPr>
          <p:grpSpPr>
            <a:xfrm rot="5400000">
              <a:off x="1565409" y="0"/>
              <a:ext cx="1565409" cy="1565409"/>
              <a:chOff x="0" y="0"/>
              <a:chExt cx="812800" cy="812800"/>
            </a:xfrm>
          </p:grpSpPr>
          <p:sp>
            <p:nvSpPr>
              <p:cNvPr name="Freeform 38" id="3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39" id="39"/>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grpSp>
          <p:nvGrpSpPr>
            <p:cNvPr name="Group 40" id="40"/>
            <p:cNvGrpSpPr/>
            <p:nvPr/>
          </p:nvGrpSpPr>
          <p:grpSpPr>
            <a:xfrm rot="5400000">
              <a:off x="3130819" y="1565409"/>
              <a:ext cx="1565409" cy="1565409"/>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42" id="42"/>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grpSp>
          <p:nvGrpSpPr>
            <p:cNvPr name="Group 43" id="43"/>
            <p:cNvGrpSpPr/>
            <p:nvPr/>
          </p:nvGrpSpPr>
          <p:grpSpPr>
            <a:xfrm rot="5400000">
              <a:off x="1565409" y="3130819"/>
              <a:ext cx="1565409" cy="1565409"/>
              <a:chOff x="0" y="0"/>
              <a:chExt cx="812800" cy="812800"/>
            </a:xfrm>
          </p:grpSpPr>
          <p:sp>
            <p:nvSpPr>
              <p:cNvPr name="Freeform 44" id="4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45" id="45"/>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grpSp>
          <p:nvGrpSpPr>
            <p:cNvPr name="Group 46" id="46"/>
            <p:cNvGrpSpPr/>
            <p:nvPr/>
          </p:nvGrpSpPr>
          <p:grpSpPr>
            <a:xfrm rot="5400000">
              <a:off x="0" y="1565409"/>
              <a:ext cx="1565409" cy="1565409"/>
              <a:chOff x="0" y="0"/>
              <a:chExt cx="812800" cy="812800"/>
            </a:xfrm>
          </p:grpSpPr>
          <p:sp>
            <p:nvSpPr>
              <p:cNvPr name="Freeform 47" id="4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48" id="48"/>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grpSp>
      <p:grpSp>
        <p:nvGrpSpPr>
          <p:cNvPr name="Group 49" id="49"/>
          <p:cNvGrpSpPr/>
          <p:nvPr/>
        </p:nvGrpSpPr>
        <p:grpSpPr>
          <a:xfrm rot="0">
            <a:off x="15967558" y="7959863"/>
            <a:ext cx="3522171" cy="3522171"/>
            <a:chOff x="0" y="0"/>
            <a:chExt cx="4696228" cy="4696228"/>
          </a:xfrm>
        </p:grpSpPr>
        <p:grpSp>
          <p:nvGrpSpPr>
            <p:cNvPr name="Group 50" id="50"/>
            <p:cNvGrpSpPr/>
            <p:nvPr/>
          </p:nvGrpSpPr>
          <p:grpSpPr>
            <a:xfrm rot="5400000">
              <a:off x="1565409" y="0"/>
              <a:ext cx="1565409" cy="1565409"/>
              <a:chOff x="0" y="0"/>
              <a:chExt cx="812800" cy="812800"/>
            </a:xfrm>
          </p:grpSpPr>
          <p:sp>
            <p:nvSpPr>
              <p:cNvPr name="Freeform 51" id="5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52" id="52"/>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grpSp>
          <p:nvGrpSpPr>
            <p:cNvPr name="Group 53" id="53"/>
            <p:cNvGrpSpPr/>
            <p:nvPr/>
          </p:nvGrpSpPr>
          <p:grpSpPr>
            <a:xfrm rot="5400000">
              <a:off x="3130819" y="1565409"/>
              <a:ext cx="1565409" cy="1565409"/>
              <a:chOff x="0" y="0"/>
              <a:chExt cx="812800" cy="812800"/>
            </a:xfrm>
          </p:grpSpPr>
          <p:sp>
            <p:nvSpPr>
              <p:cNvPr name="Freeform 54" id="5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55" id="55"/>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grpSp>
          <p:nvGrpSpPr>
            <p:cNvPr name="Group 56" id="56"/>
            <p:cNvGrpSpPr/>
            <p:nvPr/>
          </p:nvGrpSpPr>
          <p:grpSpPr>
            <a:xfrm rot="5400000">
              <a:off x="1565409" y="3130819"/>
              <a:ext cx="1565409" cy="1565409"/>
              <a:chOff x="0" y="0"/>
              <a:chExt cx="812800" cy="812800"/>
            </a:xfrm>
          </p:grpSpPr>
          <p:sp>
            <p:nvSpPr>
              <p:cNvPr name="Freeform 57" id="5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58" id="58"/>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grpSp>
          <p:nvGrpSpPr>
            <p:cNvPr name="Group 59" id="59"/>
            <p:cNvGrpSpPr/>
            <p:nvPr/>
          </p:nvGrpSpPr>
          <p:grpSpPr>
            <a:xfrm rot="5400000">
              <a:off x="0" y="1565409"/>
              <a:ext cx="1565409" cy="1565409"/>
              <a:chOff x="0" y="0"/>
              <a:chExt cx="812800" cy="812800"/>
            </a:xfrm>
          </p:grpSpPr>
          <p:sp>
            <p:nvSpPr>
              <p:cNvPr name="Freeform 60" id="6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61" id="61"/>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grpSp>
      <p:grpSp>
        <p:nvGrpSpPr>
          <p:cNvPr name="Group 62" id="62"/>
          <p:cNvGrpSpPr/>
          <p:nvPr/>
        </p:nvGrpSpPr>
        <p:grpSpPr>
          <a:xfrm rot="5400000">
            <a:off x="4939661" y="9112943"/>
            <a:ext cx="1174057" cy="1174057"/>
            <a:chOff x="0" y="0"/>
            <a:chExt cx="812800" cy="812800"/>
          </a:xfrm>
        </p:grpSpPr>
        <p:sp>
          <p:nvSpPr>
            <p:cNvPr name="Freeform 63" id="6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64" id="64"/>
            <p:cNvSpPr txBox="true"/>
            <p:nvPr/>
          </p:nvSpPr>
          <p:spPr>
            <a:xfrm>
              <a:off x="0" y="19050"/>
              <a:ext cx="812800" cy="793750"/>
            </a:xfrm>
            <a:prstGeom prst="rect">
              <a:avLst/>
            </a:prstGeom>
          </p:spPr>
          <p:txBody>
            <a:bodyPr anchor="ctr" rtlCol="false" tIns="104561" lIns="104561" bIns="104561" rIns="104561"/>
            <a:lstStyle/>
            <a:p>
              <a:pPr algn="ctr">
                <a:lnSpc>
                  <a:spcPts val="1979"/>
                </a:lnSpc>
              </a:pPr>
            </a:p>
          </p:txBody>
        </p:sp>
      </p:grpSp>
      <p:sp>
        <p:nvSpPr>
          <p:cNvPr name="Freeform 65" id="65"/>
          <p:cNvSpPr/>
          <p:nvPr/>
        </p:nvSpPr>
        <p:spPr>
          <a:xfrm flipH="false" flipV="false" rot="0">
            <a:off x="928850" y="3653894"/>
            <a:ext cx="8333029" cy="5704256"/>
          </a:xfrm>
          <a:custGeom>
            <a:avLst/>
            <a:gdLst/>
            <a:ahLst/>
            <a:cxnLst/>
            <a:rect r="r" b="b" t="t" l="l"/>
            <a:pathLst>
              <a:path h="5704256" w="8333029">
                <a:moveTo>
                  <a:pt x="0" y="0"/>
                </a:moveTo>
                <a:lnTo>
                  <a:pt x="8333029" y="0"/>
                </a:lnTo>
                <a:lnTo>
                  <a:pt x="8333029" y="5704256"/>
                </a:lnTo>
                <a:lnTo>
                  <a:pt x="0" y="5704256"/>
                </a:lnTo>
                <a:lnTo>
                  <a:pt x="0" y="0"/>
                </a:lnTo>
                <a:close/>
              </a:path>
            </a:pathLst>
          </a:custGeom>
          <a:blipFill>
            <a:blip r:embed="rId2"/>
            <a:stretch>
              <a:fillRect l="0" t="0" r="-7168" b="0"/>
            </a:stretch>
          </a:blipFill>
        </p:spPr>
      </p:sp>
      <p:sp>
        <p:nvSpPr>
          <p:cNvPr name="Freeform 66" id="66"/>
          <p:cNvSpPr/>
          <p:nvPr/>
        </p:nvSpPr>
        <p:spPr>
          <a:xfrm flipH="false" flipV="false" rot="0">
            <a:off x="11103766" y="3509759"/>
            <a:ext cx="5991433" cy="6356958"/>
          </a:xfrm>
          <a:custGeom>
            <a:avLst/>
            <a:gdLst/>
            <a:ahLst/>
            <a:cxnLst/>
            <a:rect r="r" b="b" t="t" l="l"/>
            <a:pathLst>
              <a:path h="6356958" w="5991433">
                <a:moveTo>
                  <a:pt x="0" y="0"/>
                </a:moveTo>
                <a:lnTo>
                  <a:pt x="5991433" y="0"/>
                </a:lnTo>
                <a:lnTo>
                  <a:pt x="5991433" y="6356958"/>
                </a:lnTo>
                <a:lnTo>
                  <a:pt x="0" y="6356958"/>
                </a:lnTo>
                <a:lnTo>
                  <a:pt x="0" y="0"/>
                </a:lnTo>
                <a:close/>
              </a:path>
            </a:pathLst>
          </a:custGeom>
          <a:blipFill>
            <a:blip r:embed="rId3"/>
            <a:stretch>
              <a:fillRect l="0" t="0" r="0" b="0"/>
            </a:stretch>
          </a:blipFill>
        </p:spPr>
      </p:sp>
      <p:sp>
        <p:nvSpPr>
          <p:cNvPr name="TextBox 67" id="67"/>
          <p:cNvSpPr txBox="true"/>
          <p:nvPr/>
        </p:nvSpPr>
        <p:spPr>
          <a:xfrm rot="0">
            <a:off x="3702523" y="2122275"/>
            <a:ext cx="10883962" cy="711200"/>
          </a:xfrm>
          <a:prstGeom prst="rect">
            <a:avLst/>
          </a:prstGeom>
        </p:spPr>
        <p:txBody>
          <a:bodyPr anchor="t" rtlCol="false" tIns="0" lIns="0" bIns="0" rIns="0">
            <a:spAutoFit/>
          </a:bodyPr>
          <a:lstStyle/>
          <a:p>
            <a:pPr algn="ctr" marL="0" indent="0" lvl="0">
              <a:lnSpc>
                <a:spcPts val="5500"/>
              </a:lnSpc>
              <a:spcBef>
                <a:spcPct val="0"/>
              </a:spcBef>
            </a:pPr>
            <a:r>
              <a:rPr lang="en-US" b="true" sz="5000" spc="-50">
                <a:solidFill>
                  <a:srgbClr val="000000"/>
                </a:solidFill>
                <a:latin typeface="Libre Baskerville Bold"/>
                <a:ea typeface="Libre Baskerville Bold"/>
                <a:cs typeface="Libre Baskerville Bold"/>
                <a:sym typeface="Libre Baskerville Bold"/>
              </a:rPr>
              <a:t>Application Preview</a:t>
            </a:r>
          </a:p>
        </p:txBody>
      </p:sp>
      <p:grpSp>
        <p:nvGrpSpPr>
          <p:cNvPr name="Group 68" id="68"/>
          <p:cNvGrpSpPr/>
          <p:nvPr/>
        </p:nvGrpSpPr>
        <p:grpSpPr>
          <a:xfrm rot="0">
            <a:off x="377600" y="321611"/>
            <a:ext cx="2102569" cy="275311"/>
            <a:chOff x="0" y="0"/>
            <a:chExt cx="2803426" cy="367081"/>
          </a:xfrm>
        </p:grpSpPr>
        <p:sp>
          <p:nvSpPr>
            <p:cNvPr name="TextBox 69" id="69"/>
            <p:cNvSpPr txBox="true"/>
            <p:nvPr/>
          </p:nvSpPr>
          <p:spPr>
            <a:xfrm rot="0">
              <a:off x="0" y="19050"/>
              <a:ext cx="1508522" cy="341630"/>
            </a:xfrm>
            <a:prstGeom prst="rect">
              <a:avLst/>
            </a:prstGeom>
          </p:spPr>
          <p:txBody>
            <a:bodyPr anchor="t" rtlCol="false" tIns="0" lIns="0" bIns="0" rIns="0">
              <a:spAutoFit/>
            </a:bodyPr>
            <a:lstStyle/>
            <a:p>
              <a:pPr algn="ctr">
                <a:lnSpc>
                  <a:spcPts val="1979"/>
                </a:lnSpc>
                <a:spcBef>
                  <a:spcPct val="0"/>
                </a:spcBef>
              </a:pPr>
              <a:r>
                <a:rPr lang="en-US" b="true" sz="1799">
                  <a:solidFill>
                    <a:srgbClr val="000000"/>
                  </a:solidFill>
                  <a:latin typeface="Libre Baskerville Bold"/>
                  <a:ea typeface="Libre Baskerville Bold"/>
                  <a:cs typeface="Libre Baskerville Bold"/>
                  <a:sym typeface="Libre Baskerville Bold"/>
                </a:rPr>
                <a:t>Arowwai </a:t>
              </a:r>
            </a:p>
          </p:txBody>
        </p:sp>
        <p:sp>
          <p:nvSpPr>
            <p:cNvPr name="TextBox 70" id="70"/>
            <p:cNvSpPr txBox="true"/>
            <p:nvPr/>
          </p:nvSpPr>
          <p:spPr>
            <a:xfrm rot="0">
              <a:off x="1521222" y="89374"/>
              <a:ext cx="1282204" cy="277707"/>
            </a:xfrm>
            <a:prstGeom prst="rect">
              <a:avLst/>
            </a:prstGeom>
          </p:spPr>
          <p:txBody>
            <a:bodyPr anchor="t" rtlCol="false" tIns="0" lIns="0" bIns="0" rIns="0">
              <a:spAutoFit/>
            </a:bodyPr>
            <a:lstStyle/>
            <a:p>
              <a:pPr algn="ctr">
                <a:lnSpc>
                  <a:spcPts val="1540"/>
                </a:lnSpc>
                <a:spcBef>
                  <a:spcPct val="0"/>
                </a:spcBef>
              </a:pPr>
              <a:r>
                <a:rPr lang="en-US" sz="1400">
                  <a:solidFill>
                    <a:srgbClr val="929292"/>
                  </a:solidFill>
                  <a:latin typeface="Lovelo"/>
                  <a:ea typeface="Lovelo"/>
                  <a:cs typeface="Lovelo"/>
                  <a:sym typeface="Lovelo"/>
                </a:rPr>
                <a:t>Industries</a:t>
              </a:r>
            </a:p>
          </p:txBody>
        </p:sp>
      </p:grpSp>
      <p:sp>
        <p:nvSpPr>
          <p:cNvPr name="TextBox 71" id="71"/>
          <p:cNvSpPr txBox="true"/>
          <p:nvPr/>
        </p:nvSpPr>
        <p:spPr>
          <a:xfrm rot="0">
            <a:off x="377600" y="9748607"/>
            <a:ext cx="4562061" cy="207645"/>
          </a:xfrm>
          <a:prstGeom prst="rect">
            <a:avLst/>
          </a:prstGeom>
        </p:spPr>
        <p:txBody>
          <a:bodyPr anchor="t" rtlCol="false" tIns="0" lIns="0" bIns="0" rIns="0">
            <a:spAutoFit/>
          </a:bodyPr>
          <a:lstStyle/>
          <a:p>
            <a:pPr algn="l">
              <a:lnSpc>
                <a:spcPts val="1679"/>
              </a:lnSpc>
            </a:pPr>
            <a:r>
              <a:rPr lang="en-US" sz="1199" b="true">
                <a:solidFill>
                  <a:srgbClr val="000000"/>
                </a:solidFill>
                <a:latin typeface="Inter Bold"/>
                <a:ea typeface="Inter Bold"/>
                <a:cs typeface="Inter Bold"/>
                <a:sym typeface="Inter Bold"/>
              </a:rPr>
              <a:t>www.reallygreatsite.com</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EEEEF"/>
        </a:solidFill>
      </p:bgPr>
    </p:bg>
    <p:spTree>
      <p:nvGrpSpPr>
        <p:cNvPr id="1" name=""/>
        <p:cNvGrpSpPr/>
        <p:nvPr/>
      </p:nvGrpSpPr>
      <p:grpSpPr>
        <a:xfrm>
          <a:off x="0" y="0"/>
          <a:ext cx="0" cy="0"/>
          <a:chOff x="0" y="0"/>
          <a:chExt cx="0" cy="0"/>
        </a:xfrm>
      </p:grpSpPr>
      <p:grpSp>
        <p:nvGrpSpPr>
          <p:cNvPr name="Group 2" id="2"/>
          <p:cNvGrpSpPr/>
          <p:nvPr/>
        </p:nvGrpSpPr>
        <p:grpSpPr>
          <a:xfrm rot="0">
            <a:off x="2321448" y="-464987"/>
            <a:ext cx="3522171" cy="3522171"/>
            <a:chOff x="0" y="0"/>
            <a:chExt cx="4696228" cy="4696228"/>
          </a:xfrm>
        </p:grpSpPr>
        <p:grpSp>
          <p:nvGrpSpPr>
            <p:cNvPr name="Group 3" id="3"/>
            <p:cNvGrpSpPr/>
            <p:nvPr/>
          </p:nvGrpSpPr>
          <p:grpSpPr>
            <a:xfrm rot="5400000">
              <a:off x="1565409" y="0"/>
              <a:ext cx="1565409" cy="1565409"/>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5" id="5"/>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grpSp>
          <p:nvGrpSpPr>
            <p:cNvPr name="Group 6" id="6"/>
            <p:cNvGrpSpPr/>
            <p:nvPr/>
          </p:nvGrpSpPr>
          <p:grpSpPr>
            <a:xfrm rot="5400000">
              <a:off x="3130819" y="1565409"/>
              <a:ext cx="1565409" cy="1565409"/>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8" id="8"/>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grpSp>
          <p:nvGrpSpPr>
            <p:cNvPr name="Group 9" id="9"/>
            <p:cNvGrpSpPr/>
            <p:nvPr/>
          </p:nvGrpSpPr>
          <p:grpSpPr>
            <a:xfrm rot="5400000">
              <a:off x="1565409" y="3130819"/>
              <a:ext cx="1565409" cy="1565409"/>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11" id="11"/>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grpSp>
          <p:nvGrpSpPr>
            <p:cNvPr name="Group 12" id="12"/>
            <p:cNvGrpSpPr/>
            <p:nvPr/>
          </p:nvGrpSpPr>
          <p:grpSpPr>
            <a:xfrm rot="5400000">
              <a:off x="0" y="1565409"/>
              <a:ext cx="1565409" cy="156540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14" id="14"/>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grpSp>
      <p:sp>
        <p:nvSpPr>
          <p:cNvPr name="TextBox 15" id="15"/>
          <p:cNvSpPr txBox="true"/>
          <p:nvPr/>
        </p:nvSpPr>
        <p:spPr>
          <a:xfrm rot="0">
            <a:off x="2753682" y="1658810"/>
            <a:ext cx="12781643" cy="251460"/>
          </a:xfrm>
          <a:prstGeom prst="rect">
            <a:avLst/>
          </a:prstGeom>
        </p:spPr>
        <p:txBody>
          <a:bodyPr anchor="t" rtlCol="false" tIns="0" lIns="0" bIns="0" rIns="0">
            <a:spAutoFit/>
          </a:bodyPr>
          <a:lstStyle/>
          <a:p>
            <a:pPr algn="ctr" marL="0" indent="0" lvl="0">
              <a:lnSpc>
                <a:spcPts val="1979"/>
              </a:lnSpc>
              <a:spcBef>
                <a:spcPct val="0"/>
              </a:spcBef>
            </a:pPr>
            <a:r>
              <a:rPr lang="en-US" b="true" sz="1799">
                <a:solidFill>
                  <a:srgbClr val="FF5757"/>
                </a:solidFill>
                <a:latin typeface="Inter Bold"/>
                <a:ea typeface="Inter Bold"/>
                <a:cs typeface="Inter Bold"/>
                <a:sym typeface="Inter Bold"/>
              </a:rPr>
              <a:t>Business Model</a:t>
            </a:r>
          </a:p>
        </p:txBody>
      </p:sp>
      <p:grpSp>
        <p:nvGrpSpPr>
          <p:cNvPr name="Group 16" id="16"/>
          <p:cNvGrpSpPr/>
          <p:nvPr/>
        </p:nvGrpSpPr>
        <p:grpSpPr>
          <a:xfrm rot="-5400000">
            <a:off x="0" y="8429301"/>
            <a:ext cx="1857699" cy="1857699"/>
            <a:chOff x="0" y="0"/>
            <a:chExt cx="2476932" cy="2476932"/>
          </a:xfrm>
        </p:grpSpPr>
        <p:grpSp>
          <p:nvGrpSpPr>
            <p:cNvPr name="Group 17" id="17"/>
            <p:cNvGrpSpPr/>
            <p:nvPr/>
          </p:nvGrpSpPr>
          <p:grpSpPr>
            <a:xfrm rot="0">
              <a:off x="0" y="0"/>
              <a:ext cx="1238466" cy="1238466"/>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19" id="19"/>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20" id="20"/>
            <p:cNvGrpSpPr/>
            <p:nvPr/>
          </p:nvGrpSpPr>
          <p:grpSpPr>
            <a:xfrm rot="0">
              <a:off x="0" y="1238466"/>
              <a:ext cx="1238466" cy="1238466"/>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22" id="22"/>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23" id="23"/>
            <p:cNvGrpSpPr/>
            <p:nvPr/>
          </p:nvGrpSpPr>
          <p:grpSpPr>
            <a:xfrm rot="0">
              <a:off x="1238466" y="0"/>
              <a:ext cx="1238466" cy="1238466"/>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25" id="25"/>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grpSp>
        <p:nvGrpSpPr>
          <p:cNvPr name="Group 26" id="26"/>
          <p:cNvGrpSpPr/>
          <p:nvPr/>
        </p:nvGrpSpPr>
        <p:grpSpPr>
          <a:xfrm rot="5400000">
            <a:off x="15736621" y="803205"/>
            <a:ext cx="1857699" cy="1857699"/>
            <a:chOff x="0" y="0"/>
            <a:chExt cx="2476932" cy="2476932"/>
          </a:xfrm>
        </p:grpSpPr>
        <p:grpSp>
          <p:nvGrpSpPr>
            <p:cNvPr name="Group 27" id="27"/>
            <p:cNvGrpSpPr/>
            <p:nvPr/>
          </p:nvGrpSpPr>
          <p:grpSpPr>
            <a:xfrm rot="0">
              <a:off x="0" y="0"/>
              <a:ext cx="1238466" cy="1238466"/>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29" id="29"/>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30" id="30"/>
            <p:cNvGrpSpPr/>
            <p:nvPr/>
          </p:nvGrpSpPr>
          <p:grpSpPr>
            <a:xfrm rot="0">
              <a:off x="0" y="1238466"/>
              <a:ext cx="1238466" cy="1238466"/>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32" id="32"/>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33" id="33"/>
            <p:cNvGrpSpPr/>
            <p:nvPr/>
          </p:nvGrpSpPr>
          <p:grpSpPr>
            <a:xfrm rot="0">
              <a:off x="1238466" y="0"/>
              <a:ext cx="1238466" cy="1238466"/>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35" id="35"/>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grpSp>
        <p:nvGrpSpPr>
          <p:cNvPr name="Group 36" id="36"/>
          <p:cNvGrpSpPr/>
          <p:nvPr/>
        </p:nvGrpSpPr>
        <p:grpSpPr>
          <a:xfrm rot="0">
            <a:off x="0" y="1857497"/>
            <a:ext cx="3522171" cy="3522171"/>
            <a:chOff x="0" y="0"/>
            <a:chExt cx="4696228" cy="4696228"/>
          </a:xfrm>
        </p:grpSpPr>
        <p:grpSp>
          <p:nvGrpSpPr>
            <p:cNvPr name="Group 37" id="37"/>
            <p:cNvGrpSpPr/>
            <p:nvPr/>
          </p:nvGrpSpPr>
          <p:grpSpPr>
            <a:xfrm rot="5400000">
              <a:off x="1565409" y="0"/>
              <a:ext cx="1565409" cy="1565409"/>
              <a:chOff x="0" y="0"/>
              <a:chExt cx="812800" cy="812800"/>
            </a:xfrm>
          </p:grpSpPr>
          <p:sp>
            <p:nvSpPr>
              <p:cNvPr name="Freeform 38" id="3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39" id="39"/>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grpSp>
          <p:nvGrpSpPr>
            <p:cNvPr name="Group 40" id="40"/>
            <p:cNvGrpSpPr/>
            <p:nvPr/>
          </p:nvGrpSpPr>
          <p:grpSpPr>
            <a:xfrm rot="5400000">
              <a:off x="3130819" y="1565409"/>
              <a:ext cx="1565409" cy="1565409"/>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42" id="42"/>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grpSp>
          <p:nvGrpSpPr>
            <p:cNvPr name="Group 43" id="43"/>
            <p:cNvGrpSpPr/>
            <p:nvPr/>
          </p:nvGrpSpPr>
          <p:grpSpPr>
            <a:xfrm rot="5400000">
              <a:off x="1565409" y="3130819"/>
              <a:ext cx="1565409" cy="1565409"/>
              <a:chOff x="0" y="0"/>
              <a:chExt cx="812800" cy="812800"/>
            </a:xfrm>
          </p:grpSpPr>
          <p:sp>
            <p:nvSpPr>
              <p:cNvPr name="Freeform 44" id="4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45" id="45"/>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grpSp>
          <p:nvGrpSpPr>
            <p:cNvPr name="Group 46" id="46"/>
            <p:cNvGrpSpPr/>
            <p:nvPr/>
          </p:nvGrpSpPr>
          <p:grpSpPr>
            <a:xfrm rot="5400000">
              <a:off x="0" y="1565409"/>
              <a:ext cx="1565409" cy="1565409"/>
              <a:chOff x="0" y="0"/>
              <a:chExt cx="812800" cy="812800"/>
            </a:xfrm>
          </p:grpSpPr>
          <p:sp>
            <p:nvSpPr>
              <p:cNvPr name="Freeform 47" id="4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48" id="48"/>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grpSp>
      <p:grpSp>
        <p:nvGrpSpPr>
          <p:cNvPr name="Group 49" id="49"/>
          <p:cNvGrpSpPr/>
          <p:nvPr/>
        </p:nvGrpSpPr>
        <p:grpSpPr>
          <a:xfrm rot="0">
            <a:off x="15967558" y="7959863"/>
            <a:ext cx="3522171" cy="3522171"/>
            <a:chOff x="0" y="0"/>
            <a:chExt cx="4696228" cy="4696228"/>
          </a:xfrm>
        </p:grpSpPr>
        <p:grpSp>
          <p:nvGrpSpPr>
            <p:cNvPr name="Group 50" id="50"/>
            <p:cNvGrpSpPr/>
            <p:nvPr/>
          </p:nvGrpSpPr>
          <p:grpSpPr>
            <a:xfrm rot="5400000">
              <a:off x="1565409" y="0"/>
              <a:ext cx="1565409" cy="1565409"/>
              <a:chOff x="0" y="0"/>
              <a:chExt cx="812800" cy="812800"/>
            </a:xfrm>
          </p:grpSpPr>
          <p:sp>
            <p:nvSpPr>
              <p:cNvPr name="Freeform 51" id="5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52" id="52"/>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grpSp>
          <p:nvGrpSpPr>
            <p:cNvPr name="Group 53" id="53"/>
            <p:cNvGrpSpPr/>
            <p:nvPr/>
          </p:nvGrpSpPr>
          <p:grpSpPr>
            <a:xfrm rot="5400000">
              <a:off x="3130819" y="1565409"/>
              <a:ext cx="1565409" cy="1565409"/>
              <a:chOff x="0" y="0"/>
              <a:chExt cx="812800" cy="812800"/>
            </a:xfrm>
          </p:grpSpPr>
          <p:sp>
            <p:nvSpPr>
              <p:cNvPr name="Freeform 54" id="5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55" id="55"/>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grpSp>
          <p:nvGrpSpPr>
            <p:cNvPr name="Group 56" id="56"/>
            <p:cNvGrpSpPr/>
            <p:nvPr/>
          </p:nvGrpSpPr>
          <p:grpSpPr>
            <a:xfrm rot="5400000">
              <a:off x="1565409" y="3130819"/>
              <a:ext cx="1565409" cy="1565409"/>
              <a:chOff x="0" y="0"/>
              <a:chExt cx="812800" cy="812800"/>
            </a:xfrm>
          </p:grpSpPr>
          <p:sp>
            <p:nvSpPr>
              <p:cNvPr name="Freeform 57" id="5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58" id="58"/>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grpSp>
          <p:nvGrpSpPr>
            <p:cNvPr name="Group 59" id="59"/>
            <p:cNvGrpSpPr/>
            <p:nvPr/>
          </p:nvGrpSpPr>
          <p:grpSpPr>
            <a:xfrm rot="5400000">
              <a:off x="0" y="1565409"/>
              <a:ext cx="1565409" cy="1565409"/>
              <a:chOff x="0" y="0"/>
              <a:chExt cx="812800" cy="812800"/>
            </a:xfrm>
          </p:grpSpPr>
          <p:sp>
            <p:nvSpPr>
              <p:cNvPr name="Freeform 60" id="6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61" id="61"/>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grpSp>
      <p:grpSp>
        <p:nvGrpSpPr>
          <p:cNvPr name="Group 62" id="62"/>
          <p:cNvGrpSpPr/>
          <p:nvPr/>
        </p:nvGrpSpPr>
        <p:grpSpPr>
          <a:xfrm rot="5400000">
            <a:off x="4939661" y="9112943"/>
            <a:ext cx="1174057" cy="1174057"/>
            <a:chOff x="0" y="0"/>
            <a:chExt cx="812800" cy="812800"/>
          </a:xfrm>
        </p:grpSpPr>
        <p:sp>
          <p:nvSpPr>
            <p:cNvPr name="Freeform 63" id="6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64" id="64"/>
            <p:cNvSpPr txBox="true"/>
            <p:nvPr/>
          </p:nvSpPr>
          <p:spPr>
            <a:xfrm>
              <a:off x="0" y="19050"/>
              <a:ext cx="812800" cy="793750"/>
            </a:xfrm>
            <a:prstGeom prst="rect">
              <a:avLst/>
            </a:prstGeom>
          </p:spPr>
          <p:txBody>
            <a:bodyPr anchor="ctr" rtlCol="false" tIns="104561" lIns="104561" bIns="104561" rIns="104561"/>
            <a:lstStyle/>
            <a:p>
              <a:pPr algn="ctr">
                <a:lnSpc>
                  <a:spcPts val="1979"/>
                </a:lnSpc>
              </a:pPr>
            </a:p>
          </p:txBody>
        </p:sp>
      </p:grpSp>
      <p:sp>
        <p:nvSpPr>
          <p:cNvPr name="Freeform 65" id="65"/>
          <p:cNvSpPr/>
          <p:nvPr/>
        </p:nvSpPr>
        <p:spPr>
          <a:xfrm flipH="false" flipV="false" rot="0">
            <a:off x="3022301" y="3684053"/>
            <a:ext cx="11301259" cy="6272199"/>
          </a:xfrm>
          <a:custGeom>
            <a:avLst/>
            <a:gdLst/>
            <a:ahLst/>
            <a:cxnLst/>
            <a:rect r="r" b="b" t="t" l="l"/>
            <a:pathLst>
              <a:path h="6272199" w="11301259">
                <a:moveTo>
                  <a:pt x="0" y="0"/>
                </a:moveTo>
                <a:lnTo>
                  <a:pt x="11301259" y="0"/>
                </a:lnTo>
                <a:lnTo>
                  <a:pt x="11301259" y="6272199"/>
                </a:lnTo>
                <a:lnTo>
                  <a:pt x="0" y="6272199"/>
                </a:lnTo>
                <a:lnTo>
                  <a:pt x="0" y="0"/>
                </a:lnTo>
                <a:close/>
              </a:path>
            </a:pathLst>
          </a:custGeom>
          <a:blipFill>
            <a:blip r:embed="rId2"/>
            <a:stretch>
              <a:fillRect l="0" t="0" r="0" b="0"/>
            </a:stretch>
          </a:blipFill>
        </p:spPr>
      </p:sp>
      <p:sp>
        <p:nvSpPr>
          <p:cNvPr name="TextBox 66" id="66"/>
          <p:cNvSpPr txBox="true"/>
          <p:nvPr/>
        </p:nvSpPr>
        <p:spPr>
          <a:xfrm rot="0">
            <a:off x="3702523" y="2653219"/>
            <a:ext cx="10883962" cy="711200"/>
          </a:xfrm>
          <a:prstGeom prst="rect">
            <a:avLst/>
          </a:prstGeom>
        </p:spPr>
        <p:txBody>
          <a:bodyPr anchor="t" rtlCol="false" tIns="0" lIns="0" bIns="0" rIns="0">
            <a:spAutoFit/>
          </a:bodyPr>
          <a:lstStyle/>
          <a:p>
            <a:pPr algn="ctr" marL="0" indent="0" lvl="0">
              <a:lnSpc>
                <a:spcPts val="5500"/>
              </a:lnSpc>
              <a:spcBef>
                <a:spcPct val="0"/>
              </a:spcBef>
            </a:pPr>
            <a:r>
              <a:rPr lang="en-US" b="true" sz="5000" spc="-50">
                <a:solidFill>
                  <a:srgbClr val="000000"/>
                </a:solidFill>
                <a:latin typeface="Libre Baskerville Bold"/>
                <a:ea typeface="Libre Baskerville Bold"/>
                <a:cs typeface="Libre Baskerville Bold"/>
                <a:sym typeface="Libre Baskerville Bold"/>
              </a:rPr>
              <a:t>Flux de l'Architecture Globale</a:t>
            </a:r>
          </a:p>
        </p:txBody>
      </p:sp>
      <p:grpSp>
        <p:nvGrpSpPr>
          <p:cNvPr name="Group 67" id="67"/>
          <p:cNvGrpSpPr/>
          <p:nvPr/>
        </p:nvGrpSpPr>
        <p:grpSpPr>
          <a:xfrm rot="0">
            <a:off x="377600" y="321611"/>
            <a:ext cx="2102569" cy="275311"/>
            <a:chOff x="0" y="0"/>
            <a:chExt cx="2803426" cy="367081"/>
          </a:xfrm>
        </p:grpSpPr>
        <p:sp>
          <p:nvSpPr>
            <p:cNvPr name="TextBox 68" id="68"/>
            <p:cNvSpPr txBox="true"/>
            <p:nvPr/>
          </p:nvSpPr>
          <p:spPr>
            <a:xfrm rot="0">
              <a:off x="0" y="19050"/>
              <a:ext cx="1508522" cy="341630"/>
            </a:xfrm>
            <a:prstGeom prst="rect">
              <a:avLst/>
            </a:prstGeom>
          </p:spPr>
          <p:txBody>
            <a:bodyPr anchor="t" rtlCol="false" tIns="0" lIns="0" bIns="0" rIns="0">
              <a:spAutoFit/>
            </a:bodyPr>
            <a:lstStyle/>
            <a:p>
              <a:pPr algn="ctr">
                <a:lnSpc>
                  <a:spcPts val="1979"/>
                </a:lnSpc>
                <a:spcBef>
                  <a:spcPct val="0"/>
                </a:spcBef>
              </a:pPr>
              <a:r>
                <a:rPr lang="en-US" b="true" sz="1799">
                  <a:solidFill>
                    <a:srgbClr val="000000"/>
                  </a:solidFill>
                  <a:latin typeface="Libre Baskerville Bold"/>
                  <a:ea typeface="Libre Baskerville Bold"/>
                  <a:cs typeface="Libre Baskerville Bold"/>
                  <a:sym typeface="Libre Baskerville Bold"/>
                </a:rPr>
                <a:t>Arowwai </a:t>
              </a:r>
            </a:p>
          </p:txBody>
        </p:sp>
        <p:sp>
          <p:nvSpPr>
            <p:cNvPr name="TextBox 69" id="69"/>
            <p:cNvSpPr txBox="true"/>
            <p:nvPr/>
          </p:nvSpPr>
          <p:spPr>
            <a:xfrm rot="0">
              <a:off x="1521222" y="89374"/>
              <a:ext cx="1282204" cy="277707"/>
            </a:xfrm>
            <a:prstGeom prst="rect">
              <a:avLst/>
            </a:prstGeom>
          </p:spPr>
          <p:txBody>
            <a:bodyPr anchor="t" rtlCol="false" tIns="0" lIns="0" bIns="0" rIns="0">
              <a:spAutoFit/>
            </a:bodyPr>
            <a:lstStyle/>
            <a:p>
              <a:pPr algn="ctr">
                <a:lnSpc>
                  <a:spcPts val="1540"/>
                </a:lnSpc>
                <a:spcBef>
                  <a:spcPct val="0"/>
                </a:spcBef>
              </a:pPr>
              <a:r>
                <a:rPr lang="en-US" sz="1400">
                  <a:solidFill>
                    <a:srgbClr val="929292"/>
                  </a:solidFill>
                  <a:latin typeface="Lovelo"/>
                  <a:ea typeface="Lovelo"/>
                  <a:cs typeface="Lovelo"/>
                  <a:sym typeface="Lovelo"/>
                </a:rPr>
                <a:t>Industries</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EEEEF"/>
        </a:solidFill>
      </p:bgPr>
    </p:bg>
    <p:spTree>
      <p:nvGrpSpPr>
        <p:cNvPr id="1" name=""/>
        <p:cNvGrpSpPr/>
        <p:nvPr/>
      </p:nvGrpSpPr>
      <p:grpSpPr>
        <a:xfrm>
          <a:off x="0" y="0"/>
          <a:ext cx="0" cy="0"/>
          <a:chOff x="0" y="0"/>
          <a:chExt cx="0" cy="0"/>
        </a:xfrm>
      </p:grpSpPr>
      <p:grpSp>
        <p:nvGrpSpPr>
          <p:cNvPr name="Group 2" id="2"/>
          <p:cNvGrpSpPr/>
          <p:nvPr/>
        </p:nvGrpSpPr>
        <p:grpSpPr>
          <a:xfrm rot="5400000">
            <a:off x="15736621" y="803205"/>
            <a:ext cx="1857699" cy="1857699"/>
            <a:chOff x="0" y="0"/>
            <a:chExt cx="2476932" cy="2476932"/>
          </a:xfrm>
        </p:grpSpPr>
        <p:grpSp>
          <p:nvGrpSpPr>
            <p:cNvPr name="Group 3" id="3"/>
            <p:cNvGrpSpPr/>
            <p:nvPr/>
          </p:nvGrpSpPr>
          <p:grpSpPr>
            <a:xfrm rot="0">
              <a:off x="0" y="0"/>
              <a:ext cx="1238466" cy="1238466"/>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5" id="5"/>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6" id="6"/>
            <p:cNvGrpSpPr/>
            <p:nvPr/>
          </p:nvGrpSpPr>
          <p:grpSpPr>
            <a:xfrm rot="0">
              <a:off x="0" y="1238466"/>
              <a:ext cx="1238466" cy="123846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8" id="8"/>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9" id="9"/>
            <p:cNvGrpSpPr/>
            <p:nvPr/>
          </p:nvGrpSpPr>
          <p:grpSpPr>
            <a:xfrm rot="0">
              <a:off x="1238466" y="0"/>
              <a:ext cx="1238466" cy="123846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11" id="11"/>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grpSp>
        <p:nvGrpSpPr>
          <p:cNvPr name="Group 12" id="12"/>
          <p:cNvGrpSpPr/>
          <p:nvPr/>
        </p:nvGrpSpPr>
        <p:grpSpPr>
          <a:xfrm rot="-5400000">
            <a:off x="0" y="8429301"/>
            <a:ext cx="1857699" cy="1857699"/>
            <a:chOff x="0" y="0"/>
            <a:chExt cx="2476932" cy="2476932"/>
          </a:xfrm>
        </p:grpSpPr>
        <p:grpSp>
          <p:nvGrpSpPr>
            <p:cNvPr name="Group 13" id="13"/>
            <p:cNvGrpSpPr/>
            <p:nvPr/>
          </p:nvGrpSpPr>
          <p:grpSpPr>
            <a:xfrm rot="0">
              <a:off x="0" y="0"/>
              <a:ext cx="1238466" cy="123846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15" id="15"/>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16" id="16"/>
            <p:cNvGrpSpPr/>
            <p:nvPr/>
          </p:nvGrpSpPr>
          <p:grpSpPr>
            <a:xfrm rot="0">
              <a:off x="0" y="1238466"/>
              <a:ext cx="1238466" cy="123846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18" id="18"/>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19" id="19"/>
            <p:cNvGrpSpPr/>
            <p:nvPr/>
          </p:nvGrpSpPr>
          <p:grpSpPr>
            <a:xfrm rot="0">
              <a:off x="1238466" y="0"/>
              <a:ext cx="1238466" cy="123846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21" id="21"/>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grpSp>
        <p:nvGrpSpPr>
          <p:cNvPr name="Group 22" id="22"/>
          <p:cNvGrpSpPr/>
          <p:nvPr/>
        </p:nvGrpSpPr>
        <p:grpSpPr>
          <a:xfrm rot="0">
            <a:off x="7033360" y="2911129"/>
            <a:ext cx="1196036" cy="1196036"/>
            <a:chOff x="0" y="0"/>
            <a:chExt cx="1594714" cy="1594714"/>
          </a:xfrm>
        </p:grpSpPr>
        <p:grpSp>
          <p:nvGrpSpPr>
            <p:cNvPr name="Group 23" id="23"/>
            <p:cNvGrpSpPr/>
            <p:nvPr/>
          </p:nvGrpSpPr>
          <p:grpSpPr>
            <a:xfrm rot="0">
              <a:off x="0" y="0"/>
              <a:ext cx="797357" cy="797357"/>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25" id="25"/>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26" id="26"/>
            <p:cNvGrpSpPr/>
            <p:nvPr/>
          </p:nvGrpSpPr>
          <p:grpSpPr>
            <a:xfrm rot="0">
              <a:off x="0" y="797357"/>
              <a:ext cx="797357" cy="797357"/>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28" id="28"/>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29" id="29"/>
            <p:cNvGrpSpPr/>
            <p:nvPr/>
          </p:nvGrpSpPr>
          <p:grpSpPr>
            <a:xfrm rot="0">
              <a:off x="797357" y="0"/>
              <a:ext cx="797357" cy="797357"/>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31" id="31"/>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grpSp>
        <p:nvGrpSpPr>
          <p:cNvPr name="Group 32" id="32"/>
          <p:cNvGrpSpPr/>
          <p:nvPr/>
        </p:nvGrpSpPr>
        <p:grpSpPr>
          <a:xfrm rot="5400000">
            <a:off x="1133475" y="1333631"/>
            <a:ext cx="928850" cy="928850"/>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34" id="34"/>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grpSp>
        <p:nvGrpSpPr>
          <p:cNvPr name="Group 35" id="35"/>
          <p:cNvGrpSpPr/>
          <p:nvPr/>
        </p:nvGrpSpPr>
        <p:grpSpPr>
          <a:xfrm rot="5400000">
            <a:off x="15164469" y="8429301"/>
            <a:ext cx="928850" cy="928850"/>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37" id="37"/>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sp>
        <p:nvSpPr>
          <p:cNvPr name="TextBox 38" id="38"/>
          <p:cNvSpPr txBox="true"/>
          <p:nvPr/>
        </p:nvSpPr>
        <p:spPr>
          <a:xfrm rot="0">
            <a:off x="10418602" y="2354200"/>
            <a:ext cx="2690474" cy="306704"/>
          </a:xfrm>
          <a:prstGeom prst="rect">
            <a:avLst/>
          </a:prstGeom>
        </p:spPr>
        <p:txBody>
          <a:bodyPr anchor="t" rtlCol="false" tIns="0" lIns="0" bIns="0" rIns="0">
            <a:spAutoFit/>
          </a:bodyPr>
          <a:lstStyle/>
          <a:p>
            <a:pPr algn="l">
              <a:lnSpc>
                <a:spcPts val="2520"/>
              </a:lnSpc>
            </a:pPr>
            <a:r>
              <a:rPr lang="en-US" sz="1800" spc="-36" b="true">
                <a:solidFill>
                  <a:srgbClr val="000000"/>
                </a:solidFill>
                <a:latin typeface="Inter Bold"/>
                <a:ea typeface="Inter Bold"/>
                <a:cs typeface="Inter Bold"/>
                <a:sym typeface="Inter Bold"/>
              </a:rPr>
              <a:t> GitHub Actions (CI/CD)</a:t>
            </a:r>
          </a:p>
        </p:txBody>
      </p:sp>
      <p:sp>
        <p:nvSpPr>
          <p:cNvPr name="TextBox 39" id="39"/>
          <p:cNvSpPr txBox="true"/>
          <p:nvPr/>
        </p:nvSpPr>
        <p:spPr>
          <a:xfrm rot="0">
            <a:off x="11072586" y="4971098"/>
            <a:ext cx="1382507" cy="306704"/>
          </a:xfrm>
          <a:prstGeom prst="rect">
            <a:avLst/>
          </a:prstGeom>
        </p:spPr>
        <p:txBody>
          <a:bodyPr anchor="t" rtlCol="false" tIns="0" lIns="0" bIns="0" rIns="0">
            <a:spAutoFit/>
          </a:bodyPr>
          <a:lstStyle/>
          <a:p>
            <a:pPr algn="l">
              <a:lnSpc>
                <a:spcPts val="2520"/>
              </a:lnSpc>
            </a:pPr>
            <a:r>
              <a:rPr lang="en-US" sz="1800" spc="-36" b="true">
                <a:solidFill>
                  <a:srgbClr val="000000"/>
                </a:solidFill>
                <a:latin typeface="Inter Bold"/>
                <a:ea typeface="Inter Bold"/>
                <a:cs typeface="Inter Bold"/>
                <a:sym typeface="Inter Bold"/>
              </a:rPr>
              <a:t>Azure Cloud</a:t>
            </a:r>
          </a:p>
        </p:txBody>
      </p:sp>
      <p:sp>
        <p:nvSpPr>
          <p:cNvPr name="TextBox 40" id="40"/>
          <p:cNvSpPr txBox="true"/>
          <p:nvPr/>
        </p:nvSpPr>
        <p:spPr>
          <a:xfrm rot="0">
            <a:off x="10922343" y="3680400"/>
            <a:ext cx="1682992" cy="306704"/>
          </a:xfrm>
          <a:prstGeom prst="rect">
            <a:avLst/>
          </a:prstGeom>
        </p:spPr>
        <p:txBody>
          <a:bodyPr anchor="t" rtlCol="false" tIns="0" lIns="0" bIns="0" rIns="0">
            <a:spAutoFit/>
          </a:bodyPr>
          <a:lstStyle/>
          <a:p>
            <a:pPr algn="l">
              <a:lnSpc>
                <a:spcPts val="2520"/>
              </a:lnSpc>
            </a:pPr>
            <a:r>
              <a:rPr lang="en-US" sz="1800" spc="-36" b="true">
                <a:solidFill>
                  <a:srgbClr val="000000"/>
                </a:solidFill>
                <a:latin typeface="Inter Bold"/>
                <a:ea typeface="Inter Bold"/>
                <a:cs typeface="Inter Bold"/>
                <a:sym typeface="Inter Bold"/>
              </a:rPr>
              <a:t> Image Docker</a:t>
            </a:r>
          </a:p>
        </p:txBody>
      </p:sp>
      <p:sp>
        <p:nvSpPr>
          <p:cNvPr name="AutoShape 41" id="41"/>
          <p:cNvSpPr/>
          <p:nvPr/>
        </p:nvSpPr>
        <p:spPr>
          <a:xfrm>
            <a:off x="11690282" y="1334704"/>
            <a:ext cx="0" cy="1057596"/>
          </a:xfrm>
          <a:prstGeom prst="line">
            <a:avLst/>
          </a:prstGeom>
          <a:ln cap="flat" w="38100">
            <a:solidFill>
              <a:srgbClr val="000000"/>
            </a:solidFill>
            <a:prstDash val="solid"/>
            <a:headEnd type="none" len="sm" w="sm"/>
            <a:tailEnd type="arrow" len="sm" w="med"/>
          </a:ln>
        </p:spPr>
      </p:sp>
      <p:sp>
        <p:nvSpPr>
          <p:cNvPr name="AutoShape 42" id="42"/>
          <p:cNvSpPr/>
          <p:nvPr/>
        </p:nvSpPr>
        <p:spPr>
          <a:xfrm>
            <a:off x="11690282" y="2660904"/>
            <a:ext cx="0" cy="1057596"/>
          </a:xfrm>
          <a:prstGeom prst="line">
            <a:avLst/>
          </a:prstGeom>
          <a:ln cap="flat" w="38100">
            <a:solidFill>
              <a:srgbClr val="000000"/>
            </a:solidFill>
            <a:prstDash val="solid"/>
            <a:headEnd type="none" len="sm" w="sm"/>
            <a:tailEnd type="arrow" len="sm" w="med"/>
          </a:ln>
        </p:spPr>
      </p:sp>
      <p:sp>
        <p:nvSpPr>
          <p:cNvPr name="AutoShape 43" id="43"/>
          <p:cNvSpPr/>
          <p:nvPr/>
        </p:nvSpPr>
        <p:spPr>
          <a:xfrm>
            <a:off x="11709332" y="3985200"/>
            <a:ext cx="0" cy="1057596"/>
          </a:xfrm>
          <a:prstGeom prst="line">
            <a:avLst/>
          </a:prstGeom>
          <a:ln cap="flat" w="38100">
            <a:solidFill>
              <a:srgbClr val="000000"/>
            </a:solidFill>
            <a:prstDash val="solid"/>
            <a:headEnd type="none" len="sm" w="sm"/>
            <a:tailEnd type="arrow" len="sm" w="med"/>
          </a:ln>
        </p:spPr>
      </p:sp>
      <p:sp>
        <p:nvSpPr>
          <p:cNvPr name="Freeform 44" id="44"/>
          <p:cNvSpPr/>
          <p:nvPr/>
        </p:nvSpPr>
        <p:spPr>
          <a:xfrm flipH="false" flipV="false" rot="0">
            <a:off x="8072080" y="5277802"/>
            <a:ext cx="7556813" cy="4363856"/>
          </a:xfrm>
          <a:custGeom>
            <a:avLst/>
            <a:gdLst/>
            <a:ahLst/>
            <a:cxnLst/>
            <a:rect r="r" b="b" t="t" l="l"/>
            <a:pathLst>
              <a:path h="4363856" w="7556813">
                <a:moveTo>
                  <a:pt x="0" y="0"/>
                </a:moveTo>
                <a:lnTo>
                  <a:pt x="7556813" y="0"/>
                </a:lnTo>
                <a:lnTo>
                  <a:pt x="7556813" y="4363856"/>
                </a:lnTo>
                <a:lnTo>
                  <a:pt x="0" y="4363856"/>
                </a:lnTo>
                <a:lnTo>
                  <a:pt x="0" y="0"/>
                </a:lnTo>
                <a:close/>
              </a:path>
            </a:pathLst>
          </a:custGeom>
          <a:blipFill>
            <a:blip r:embed="rId2"/>
            <a:stretch>
              <a:fillRect l="-9339" t="-242396" r="-21877" b="0"/>
            </a:stretch>
          </a:blipFill>
          <a:ln w="38100" cap="sq">
            <a:solidFill>
              <a:srgbClr val="000000"/>
            </a:solidFill>
            <a:prstDash val="solid"/>
            <a:miter/>
          </a:ln>
        </p:spPr>
      </p:sp>
      <p:sp>
        <p:nvSpPr>
          <p:cNvPr name="Freeform 45" id="45"/>
          <p:cNvSpPr/>
          <p:nvPr/>
        </p:nvSpPr>
        <p:spPr>
          <a:xfrm flipH="false" flipV="false" rot="0">
            <a:off x="8352540" y="7036994"/>
            <a:ext cx="2569803" cy="1856731"/>
          </a:xfrm>
          <a:custGeom>
            <a:avLst/>
            <a:gdLst/>
            <a:ahLst/>
            <a:cxnLst/>
            <a:rect r="r" b="b" t="t" l="l"/>
            <a:pathLst>
              <a:path h="1856731" w="2569803">
                <a:moveTo>
                  <a:pt x="0" y="0"/>
                </a:moveTo>
                <a:lnTo>
                  <a:pt x="2569803" y="0"/>
                </a:lnTo>
                <a:lnTo>
                  <a:pt x="2569803" y="1856732"/>
                </a:lnTo>
                <a:lnTo>
                  <a:pt x="0" y="1856732"/>
                </a:lnTo>
                <a:lnTo>
                  <a:pt x="0" y="0"/>
                </a:lnTo>
                <a:close/>
              </a:path>
            </a:pathLst>
          </a:custGeom>
          <a:blipFill>
            <a:blip r:embed="rId2"/>
            <a:stretch>
              <a:fillRect l="0" t="-108554" r="0" b="0"/>
            </a:stretch>
          </a:blipFill>
          <a:ln w="38100" cap="sq">
            <a:solidFill>
              <a:srgbClr val="000000"/>
            </a:solidFill>
            <a:prstDash val="solid"/>
            <a:miter/>
          </a:ln>
        </p:spPr>
      </p:sp>
      <p:sp>
        <p:nvSpPr>
          <p:cNvPr name="TextBox 46" id="46"/>
          <p:cNvSpPr txBox="true"/>
          <p:nvPr/>
        </p:nvSpPr>
        <p:spPr>
          <a:xfrm rot="0">
            <a:off x="7985432" y="6100762"/>
            <a:ext cx="7556813" cy="994410"/>
          </a:xfrm>
          <a:prstGeom prst="rect">
            <a:avLst/>
          </a:prstGeom>
        </p:spPr>
        <p:txBody>
          <a:bodyPr anchor="t" rtlCol="false" tIns="0" lIns="0" bIns="0" rIns="0">
            <a:spAutoFit/>
          </a:bodyPr>
          <a:lstStyle/>
          <a:p>
            <a:pPr algn="ctr">
              <a:lnSpc>
                <a:spcPts val="1979"/>
              </a:lnSpc>
              <a:spcBef>
                <a:spcPct val="0"/>
              </a:spcBef>
            </a:pPr>
            <a:r>
              <a:rPr lang="en-US" b="true" sz="1799">
                <a:solidFill>
                  <a:srgbClr val="000000"/>
                </a:solidFill>
                <a:latin typeface="Inter Bold"/>
                <a:ea typeface="Inter Bold"/>
                <a:cs typeface="Inter Bold"/>
                <a:sym typeface="Inter Bold"/>
              </a:rPr>
              <a:t>Virtual Network (10.0.0.0/16)</a:t>
            </a:r>
          </a:p>
          <a:p>
            <a:pPr algn="ctr">
              <a:lnSpc>
                <a:spcPts val="1979"/>
              </a:lnSpc>
              <a:spcBef>
                <a:spcPct val="0"/>
              </a:spcBef>
            </a:pPr>
            <a:r>
              <a:rPr lang="en-US" b="true" sz="1799">
                <a:solidFill>
                  <a:srgbClr val="000000"/>
                </a:solidFill>
                <a:latin typeface="Inter Bold"/>
                <a:ea typeface="Inter Bold"/>
                <a:cs typeface="Inter Bold"/>
                <a:sym typeface="Inter Bold"/>
              </a:rPr>
              <a:t> |</a:t>
            </a:r>
          </a:p>
          <a:p>
            <a:pPr algn="ctr">
              <a:lnSpc>
                <a:spcPts val="1979"/>
              </a:lnSpc>
              <a:spcBef>
                <a:spcPct val="0"/>
              </a:spcBef>
            </a:pPr>
            <a:r>
              <a:rPr lang="en-US" b="true" sz="1799">
                <a:solidFill>
                  <a:srgbClr val="000000"/>
                </a:solidFill>
                <a:latin typeface="Inter Bold"/>
                <a:ea typeface="Inter Bold"/>
                <a:cs typeface="Inter Bold"/>
                <a:sym typeface="Inter Bold"/>
              </a:rPr>
              <a:t> Subnet (10.0.1.0/24)</a:t>
            </a:r>
          </a:p>
          <a:p>
            <a:pPr algn="ctr">
              <a:lnSpc>
                <a:spcPts val="1979"/>
              </a:lnSpc>
              <a:spcBef>
                <a:spcPct val="0"/>
              </a:spcBef>
            </a:pPr>
            <a:r>
              <a:rPr lang="en-US" b="true" sz="1799">
                <a:solidFill>
                  <a:srgbClr val="000000"/>
                </a:solidFill>
                <a:latin typeface="Inter Bold"/>
                <a:ea typeface="Inter Bold"/>
                <a:cs typeface="Inter Bold"/>
                <a:sym typeface="Inter Bold"/>
              </a:rPr>
              <a:t> |</a:t>
            </a:r>
          </a:p>
        </p:txBody>
      </p:sp>
      <p:sp>
        <p:nvSpPr>
          <p:cNvPr name="Freeform 47" id="47"/>
          <p:cNvSpPr/>
          <p:nvPr/>
        </p:nvSpPr>
        <p:spPr>
          <a:xfrm flipH="false" flipV="false" rot="0">
            <a:off x="12699113" y="7036994"/>
            <a:ext cx="2569803" cy="1856731"/>
          </a:xfrm>
          <a:custGeom>
            <a:avLst/>
            <a:gdLst/>
            <a:ahLst/>
            <a:cxnLst/>
            <a:rect r="r" b="b" t="t" l="l"/>
            <a:pathLst>
              <a:path h="1856731" w="2569803">
                <a:moveTo>
                  <a:pt x="0" y="0"/>
                </a:moveTo>
                <a:lnTo>
                  <a:pt x="2569802" y="0"/>
                </a:lnTo>
                <a:lnTo>
                  <a:pt x="2569802" y="1856732"/>
                </a:lnTo>
                <a:lnTo>
                  <a:pt x="0" y="1856732"/>
                </a:lnTo>
                <a:lnTo>
                  <a:pt x="0" y="0"/>
                </a:lnTo>
                <a:close/>
              </a:path>
            </a:pathLst>
          </a:custGeom>
          <a:blipFill>
            <a:blip r:embed="rId2"/>
            <a:stretch>
              <a:fillRect l="0" t="-108554" r="0" b="0"/>
            </a:stretch>
          </a:blipFill>
          <a:ln w="38100" cap="sq">
            <a:solidFill>
              <a:srgbClr val="000000"/>
            </a:solidFill>
            <a:prstDash val="solid"/>
            <a:miter/>
          </a:ln>
        </p:spPr>
      </p:sp>
      <p:sp>
        <p:nvSpPr>
          <p:cNvPr name="Freeform 48" id="48"/>
          <p:cNvSpPr/>
          <p:nvPr/>
        </p:nvSpPr>
        <p:spPr>
          <a:xfrm flipH="false" flipV="false" rot="0">
            <a:off x="8659515" y="8068665"/>
            <a:ext cx="658598" cy="658598"/>
          </a:xfrm>
          <a:custGeom>
            <a:avLst/>
            <a:gdLst/>
            <a:ahLst/>
            <a:cxnLst/>
            <a:rect r="r" b="b" t="t" l="l"/>
            <a:pathLst>
              <a:path h="658598" w="658598">
                <a:moveTo>
                  <a:pt x="0" y="0"/>
                </a:moveTo>
                <a:lnTo>
                  <a:pt x="658598" y="0"/>
                </a:lnTo>
                <a:lnTo>
                  <a:pt x="658598" y="658598"/>
                </a:lnTo>
                <a:lnTo>
                  <a:pt x="0" y="658598"/>
                </a:lnTo>
                <a:lnTo>
                  <a:pt x="0" y="0"/>
                </a:lnTo>
                <a:close/>
              </a:path>
            </a:pathLst>
          </a:custGeom>
          <a:blipFill>
            <a:blip r:embed="rId3"/>
            <a:stretch>
              <a:fillRect l="0" t="0" r="0" b="0"/>
            </a:stretch>
          </a:blipFill>
        </p:spPr>
      </p:sp>
      <p:sp>
        <p:nvSpPr>
          <p:cNvPr name="Freeform 49" id="49"/>
          <p:cNvSpPr/>
          <p:nvPr/>
        </p:nvSpPr>
        <p:spPr>
          <a:xfrm flipH="false" flipV="false" rot="0">
            <a:off x="9418046" y="4584512"/>
            <a:ext cx="1232515" cy="693290"/>
          </a:xfrm>
          <a:custGeom>
            <a:avLst/>
            <a:gdLst/>
            <a:ahLst/>
            <a:cxnLst/>
            <a:rect r="r" b="b" t="t" l="l"/>
            <a:pathLst>
              <a:path h="693290" w="1232515">
                <a:moveTo>
                  <a:pt x="0" y="0"/>
                </a:moveTo>
                <a:lnTo>
                  <a:pt x="1232515" y="0"/>
                </a:lnTo>
                <a:lnTo>
                  <a:pt x="1232515" y="693290"/>
                </a:lnTo>
                <a:lnTo>
                  <a:pt x="0" y="693290"/>
                </a:lnTo>
                <a:lnTo>
                  <a:pt x="0" y="0"/>
                </a:lnTo>
                <a:close/>
              </a:path>
            </a:pathLst>
          </a:custGeom>
          <a:blipFill>
            <a:blip r:embed="rId4"/>
            <a:stretch>
              <a:fillRect l="0" t="0" r="0" b="0"/>
            </a:stretch>
          </a:blipFill>
        </p:spPr>
      </p:sp>
      <p:sp>
        <p:nvSpPr>
          <p:cNvPr name="TextBox 50" id="50"/>
          <p:cNvSpPr txBox="true"/>
          <p:nvPr/>
        </p:nvSpPr>
        <p:spPr>
          <a:xfrm rot="0">
            <a:off x="12699113" y="7142293"/>
            <a:ext cx="2569803" cy="1092835"/>
          </a:xfrm>
          <a:prstGeom prst="rect">
            <a:avLst/>
          </a:prstGeom>
        </p:spPr>
        <p:txBody>
          <a:bodyPr anchor="t" rtlCol="false" tIns="0" lIns="0" bIns="0" rIns="0">
            <a:spAutoFit/>
          </a:bodyPr>
          <a:lstStyle/>
          <a:p>
            <a:pPr algn="ctr">
              <a:lnSpc>
                <a:spcPts val="1430"/>
              </a:lnSpc>
              <a:spcBef>
                <a:spcPct val="0"/>
              </a:spcBef>
            </a:pPr>
            <a:r>
              <a:rPr lang="en-US" b="true" sz="1300">
                <a:solidFill>
                  <a:srgbClr val="000000"/>
                </a:solidFill>
                <a:latin typeface="Inter Bold"/>
                <a:ea typeface="Inter Bold"/>
                <a:cs typeface="Inter Bold"/>
                <a:sym typeface="Inter Bold"/>
              </a:rPr>
              <a:t>VM WORKER</a:t>
            </a:r>
          </a:p>
          <a:p>
            <a:pPr algn="ctr">
              <a:lnSpc>
                <a:spcPts val="1430"/>
              </a:lnSpc>
              <a:spcBef>
                <a:spcPct val="0"/>
              </a:spcBef>
            </a:pPr>
            <a:r>
              <a:rPr lang="en-US" sz="1300">
                <a:solidFill>
                  <a:srgbClr val="000000"/>
                </a:solidFill>
                <a:latin typeface="Inter"/>
                <a:ea typeface="Inter"/>
                <a:cs typeface="Inter"/>
                <a:sym typeface="Inter"/>
              </a:rPr>
              <a:t>(Runs Pods)</a:t>
            </a:r>
          </a:p>
          <a:p>
            <a:pPr algn="ctr">
              <a:lnSpc>
                <a:spcPts val="1430"/>
              </a:lnSpc>
              <a:spcBef>
                <a:spcPct val="0"/>
              </a:spcBef>
            </a:pPr>
          </a:p>
          <a:p>
            <a:pPr algn="ctr">
              <a:lnSpc>
                <a:spcPts val="1430"/>
              </a:lnSpc>
              <a:spcBef>
                <a:spcPct val="0"/>
              </a:spcBef>
            </a:pPr>
            <a:r>
              <a:rPr lang="en-US" sz="1300">
                <a:solidFill>
                  <a:srgbClr val="000000"/>
                </a:solidFill>
                <a:latin typeface="Inter"/>
                <a:ea typeface="Inter"/>
                <a:cs typeface="Inter"/>
                <a:sym typeface="Inter"/>
              </a:rPr>
              <a:t>Pod (Task Manager API)</a:t>
            </a:r>
          </a:p>
          <a:p>
            <a:pPr algn="ctr">
              <a:lnSpc>
                <a:spcPts val="1430"/>
              </a:lnSpc>
              <a:spcBef>
                <a:spcPct val="0"/>
              </a:spcBef>
            </a:pPr>
          </a:p>
          <a:p>
            <a:pPr algn="ctr">
              <a:lnSpc>
                <a:spcPts val="1430"/>
              </a:lnSpc>
              <a:spcBef>
                <a:spcPct val="0"/>
              </a:spcBef>
            </a:pPr>
            <a:r>
              <a:rPr lang="en-US" sz="1300">
                <a:solidFill>
                  <a:srgbClr val="000000"/>
                </a:solidFill>
                <a:latin typeface="Inter"/>
                <a:ea typeface="Inter"/>
                <a:cs typeface="Inter"/>
                <a:sym typeface="Inter"/>
              </a:rPr>
              <a:t>NodePort :30080</a:t>
            </a:r>
          </a:p>
        </p:txBody>
      </p:sp>
      <p:sp>
        <p:nvSpPr>
          <p:cNvPr name="Freeform 51" id="51"/>
          <p:cNvSpPr/>
          <p:nvPr/>
        </p:nvSpPr>
        <p:spPr>
          <a:xfrm flipH="false" flipV="false" rot="0">
            <a:off x="12779777" y="8100002"/>
            <a:ext cx="658598" cy="658598"/>
          </a:xfrm>
          <a:custGeom>
            <a:avLst/>
            <a:gdLst/>
            <a:ahLst/>
            <a:cxnLst/>
            <a:rect r="r" b="b" t="t" l="l"/>
            <a:pathLst>
              <a:path h="658598" w="658598">
                <a:moveTo>
                  <a:pt x="0" y="0"/>
                </a:moveTo>
                <a:lnTo>
                  <a:pt x="658598" y="0"/>
                </a:lnTo>
                <a:lnTo>
                  <a:pt x="658598" y="658598"/>
                </a:lnTo>
                <a:lnTo>
                  <a:pt x="0" y="658598"/>
                </a:lnTo>
                <a:lnTo>
                  <a:pt x="0" y="0"/>
                </a:lnTo>
                <a:close/>
              </a:path>
            </a:pathLst>
          </a:custGeom>
          <a:blipFill>
            <a:blip r:embed="rId3"/>
            <a:stretch>
              <a:fillRect l="0" t="0" r="0" b="0"/>
            </a:stretch>
          </a:blipFill>
        </p:spPr>
      </p:sp>
      <p:sp>
        <p:nvSpPr>
          <p:cNvPr name="Freeform 52" id="52"/>
          <p:cNvSpPr/>
          <p:nvPr/>
        </p:nvSpPr>
        <p:spPr>
          <a:xfrm flipH="false" flipV="false" rot="0">
            <a:off x="9756905" y="8221065"/>
            <a:ext cx="793724" cy="537535"/>
          </a:xfrm>
          <a:custGeom>
            <a:avLst/>
            <a:gdLst/>
            <a:ahLst/>
            <a:cxnLst/>
            <a:rect r="r" b="b" t="t" l="l"/>
            <a:pathLst>
              <a:path h="537535" w="793724">
                <a:moveTo>
                  <a:pt x="0" y="0"/>
                </a:moveTo>
                <a:lnTo>
                  <a:pt x="793724" y="0"/>
                </a:lnTo>
                <a:lnTo>
                  <a:pt x="793724" y="537535"/>
                </a:lnTo>
                <a:lnTo>
                  <a:pt x="0" y="537535"/>
                </a:lnTo>
                <a:lnTo>
                  <a:pt x="0" y="0"/>
                </a:lnTo>
                <a:close/>
              </a:path>
            </a:pathLst>
          </a:custGeom>
          <a:blipFill>
            <a:blip r:embed="rId5"/>
            <a:stretch>
              <a:fillRect l="-2443" t="-29736" r="-2443" b="-25138"/>
            </a:stretch>
          </a:blipFill>
        </p:spPr>
      </p:sp>
      <p:sp>
        <p:nvSpPr>
          <p:cNvPr name="Freeform 53" id="53"/>
          <p:cNvSpPr/>
          <p:nvPr/>
        </p:nvSpPr>
        <p:spPr>
          <a:xfrm flipH="false" flipV="false" rot="0">
            <a:off x="14370745" y="8221065"/>
            <a:ext cx="793724" cy="537535"/>
          </a:xfrm>
          <a:custGeom>
            <a:avLst/>
            <a:gdLst/>
            <a:ahLst/>
            <a:cxnLst/>
            <a:rect r="r" b="b" t="t" l="l"/>
            <a:pathLst>
              <a:path h="537535" w="793724">
                <a:moveTo>
                  <a:pt x="0" y="0"/>
                </a:moveTo>
                <a:lnTo>
                  <a:pt x="793724" y="0"/>
                </a:lnTo>
                <a:lnTo>
                  <a:pt x="793724" y="537535"/>
                </a:lnTo>
                <a:lnTo>
                  <a:pt x="0" y="537535"/>
                </a:lnTo>
                <a:lnTo>
                  <a:pt x="0" y="0"/>
                </a:lnTo>
                <a:close/>
              </a:path>
            </a:pathLst>
          </a:custGeom>
          <a:blipFill>
            <a:blip r:embed="rId5"/>
            <a:stretch>
              <a:fillRect l="-2443" t="-29736" r="-2443" b="-25138"/>
            </a:stretch>
          </a:blipFill>
        </p:spPr>
      </p:sp>
      <p:sp>
        <p:nvSpPr>
          <p:cNvPr name="Freeform 54" id="54"/>
          <p:cNvSpPr/>
          <p:nvPr/>
        </p:nvSpPr>
        <p:spPr>
          <a:xfrm flipH="false" flipV="false" rot="0">
            <a:off x="9637441" y="3584035"/>
            <a:ext cx="793724" cy="537535"/>
          </a:xfrm>
          <a:custGeom>
            <a:avLst/>
            <a:gdLst/>
            <a:ahLst/>
            <a:cxnLst/>
            <a:rect r="r" b="b" t="t" l="l"/>
            <a:pathLst>
              <a:path h="537535" w="793724">
                <a:moveTo>
                  <a:pt x="0" y="0"/>
                </a:moveTo>
                <a:lnTo>
                  <a:pt x="793724" y="0"/>
                </a:lnTo>
                <a:lnTo>
                  <a:pt x="793724" y="537535"/>
                </a:lnTo>
                <a:lnTo>
                  <a:pt x="0" y="537535"/>
                </a:lnTo>
                <a:lnTo>
                  <a:pt x="0" y="0"/>
                </a:lnTo>
                <a:close/>
              </a:path>
            </a:pathLst>
          </a:custGeom>
          <a:blipFill>
            <a:blip r:embed="rId5"/>
            <a:stretch>
              <a:fillRect l="-2443" t="-29736" r="-2443" b="-25138"/>
            </a:stretch>
          </a:blipFill>
        </p:spPr>
      </p:sp>
      <p:sp>
        <p:nvSpPr>
          <p:cNvPr name="Freeform 55" id="55"/>
          <p:cNvSpPr/>
          <p:nvPr/>
        </p:nvSpPr>
        <p:spPr>
          <a:xfrm flipH="false" flipV="false" rot="0">
            <a:off x="9637441" y="2022955"/>
            <a:ext cx="760979" cy="760979"/>
          </a:xfrm>
          <a:custGeom>
            <a:avLst/>
            <a:gdLst/>
            <a:ahLst/>
            <a:cxnLst/>
            <a:rect r="r" b="b" t="t" l="l"/>
            <a:pathLst>
              <a:path h="760979" w="760979">
                <a:moveTo>
                  <a:pt x="0" y="0"/>
                </a:moveTo>
                <a:lnTo>
                  <a:pt x="760980" y="0"/>
                </a:lnTo>
                <a:lnTo>
                  <a:pt x="760980" y="760980"/>
                </a:lnTo>
                <a:lnTo>
                  <a:pt x="0" y="760980"/>
                </a:lnTo>
                <a:lnTo>
                  <a:pt x="0" y="0"/>
                </a:lnTo>
                <a:close/>
              </a:path>
            </a:pathLst>
          </a:custGeom>
          <a:blipFill>
            <a:blip r:embed="rId6"/>
            <a:stretch>
              <a:fillRect l="0" t="0" r="0" b="0"/>
            </a:stretch>
          </a:blipFill>
        </p:spPr>
      </p:sp>
      <p:sp>
        <p:nvSpPr>
          <p:cNvPr name="Freeform 56" id="56"/>
          <p:cNvSpPr/>
          <p:nvPr/>
        </p:nvSpPr>
        <p:spPr>
          <a:xfrm flipH="false" flipV="false" rot="0">
            <a:off x="9516913" y="698310"/>
            <a:ext cx="1002037" cy="1002037"/>
          </a:xfrm>
          <a:custGeom>
            <a:avLst/>
            <a:gdLst/>
            <a:ahLst/>
            <a:cxnLst/>
            <a:rect r="r" b="b" t="t" l="l"/>
            <a:pathLst>
              <a:path h="1002037" w="1002037">
                <a:moveTo>
                  <a:pt x="0" y="0"/>
                </a:moveTo>
                <a:lnTo>
                  <a:pt x="1002036" y="0"/>
                </a:lnTo>
                <a:lnTo>
                  <a:pt x="1002036" y="1002037"/>
                </a:lnTo>
                <a:lnTo>
                  <a:pt x="0" y="1002037"/>
                </a:lnTo>
                <a:lnTo>
                  <a:pt x="0" y="0"/>
                </a:lnTo>
                <a:close/>
              </a:path>
            </a:pathLst>
          </a:custGeom>
          <a:blipFill>
            <a:blip r:embed="rId7"/>
            <a:stretch>
              <a:fillRect l="0" t="0" r="0" b="0"/>
            </a:stretch>
          </a:blipFill>
        </p:spPr>
      </p:sp>
      <p:sp>
        <p:nvSpPr>
          <p:cNvPr name="TextBox 57" id="57"/>
          <p:cNvSpPr txBox="true"/>
          <p:nvPr/>
        </p:nvSpPr>
        <p:spPr>
          <a:xfrm rot="0">
            <a:off x="377600" y="9748607"/>
            <a:ext cx="4562061" cy="207645"/>
          </a:xfrm>
          <a:prstGeom prst="rect">
            <a:avLst/>
          </a:prstGeom>
        </p:spPr>
        <p:txBody>
          <a:bodyPr anchor="t" rtlCol="false" tIns="0" lIns="0" bIns="0" rIns="0">
            <a:spAutoFit/>
          </a:bodyPr>
          <a:lstStyle/>
          <a:p>
            <a:pPr algn="l">
              <a:lnSpc>
                <a:spcPts val="1679"/>
              </a:lnSpc>
            </a:pPr>
            <a:r>
              <a:rPr lang="en-US" sz="1199" b="true">
                <a:solidFill>
                  <a:srgbClr val="000000"/>
                </a:solidFill>
                <a:latin typeface="Inter Bold"/>
                <a:ea typeface="Inter Bold"/>
                <a:cs typeface="Inter Bold"/>
                <a:sym typeface="Inter Bold"/>
              </a:rPr>
              <a:t>www.reallygreatsite.com</a:t>
            </a:r>
          </a:p>
        </p:txBody>
      </p:sp>
      <p:grpSp>
        <p:nvGrpSpPr>
          <p:cNvPr name="Group 58" id="58"/>
          <p:cNvGrpSpPr/>
          <p:nvPr/>
        </p:nvGrpSpPr>
        <p:grpSpPr>
          <a:xfrm rot="0">
            <a:off x="377600" y="321611"/>
            <a:ext cx="2102569" cy="275311"/>
            <a:chOff x="0" y="0"/>
            <a:chExt cx="2803426" cy="367081"/>
          </a:xfrm>
        </p:grpSpPr>
        <p:sp>
          <p:nvSpPr>
            <p:cNvPr name="TextBox 59" id="59"/>
            <p:cNvSpPr txBox="true"/>
            <p:nvPr/>
          </p:nvSpPr>
          <p:spPr>
            <a:xfrm rot="0">
              <a:off x="0" y="19050"/>
              <a:ext cx="1508522" cy="341630"/>
            </a:xfrm>
            <a:prstGeom prst="rect">
              <a:avLst/>
            </a:prstGeom>
          </p:spPr>
          <p:txBody>
            <a:bodyPr anchor="t" rtlCol="false" tIns="0" lIns="0" bIns="0" rIns="0">
              <a:spAutoFit/>
            </a:bodyPr>
            <a:lstStyle/>
            <a:p>
              <a:pPr algn="ctr">
                <a:lnSpc>
                  <a:spcPts val="1979"/>
                </a:lnSpc>
                <a:spcBef>
                  <a:spcPct val="0"/>
                </a:spcBef>
              </a:pPr>
              <a:r>
                <a:rPr lang="en-US" b="true" sz="1799">
                  <a:solidFill>
                    <a:srgbClr val="000000"/>
                  </a:solidFill>
                  <a:latin typeface="Libre Baskerville Bold"/>
                  <a:ea typeface="Libre Baskerville Bold"/>
                  <a:cs typeface="Libre Baskerville Bold"/>
                  <a:sym typeface="Libre Baskerville Bold"/>
                </a:rPr>
                <a:t>Arowwai </a:t>
              </a:r>
            </a:p>
          </p:txBody>
        </p:sp>
        <p:sp>
          <p:nvSpPr>
            <p:cNvPr name="TextBox 60" id="60"/>
            <p:cNvSpPr txBox="true"/>
            <p:nvPr/>
          </p:nvSpPr>
          <p:spPr>
            <a:xfrm rot="0">
              <a:off x="1521222" y="89374"/>
              <a:ext cx="1282204" cy="277707"/>
            </a:xfrm>
            <a:prstGeom prst="rect">
              <a:avLst/>
            </a:prstGeom>
          </p:spPr>
          <p:txBody>
            <a:bodyPr anchor="t" rtlCol="false" tIns="0" lIns="0" bIns="0" rIns="0">
              <a:spAutoFit/>
            </a:bodyPr>
            <a:lstStyle/>
            <a:p>
              <a:pPr algn="ctr">
                <a:lnSpc>
                  <a:spcPts val="1540"/>
                </a:lnSpc>
                <a:spcBef>
                  <a:spcPct val="0"/>
                </a:spcBef>
              </a:pPr>
              <a:r>
                <a:rPr lang="en-US" sz="1400">
                  <a:solidFill>
                    <a:srgbClr val="929292"/>
                  </a:solidFill>
                  <a:latin typeface="Lovelo"/>
                  <a:ea typeface="Lovelo"/>
                  <a:cs typeface="Lovelo"/>
                  <a:sym typeface="Lovelo"/>
                </a:rPr>
                <a:t>Industries</a:t>
              </a:r>
            </a:p>
          </p:txBody>
        </p:sp>
      </p:grpSp>
      <p:sp>
        <p:nvSpPr>
          <p:cNvPr name="TextBox 61" id="61"/>
          <p:cNvSpPr txBox="true"/>
          <p:nvPr/>
        </p:nvSpPr>
        <p:spPr>
          <a:xfrm rot="0">
            <a:off x="1428885" y="4313381"/>
            <a:ext cx="4903477" cy="2033905"/>
          </a:xfrm>
          <a:prstGeom prst="rect">
            <a:avLst/>
          </a:prstGeom>
        </p:spPr>
        <p:txBody>
          <a:bodyPr anchor="t" rtlCol="false" tIns="0" lIns="0" bIns="0" rIns="0">
            <a:spAutoFit/>
          </a:bodyPr>
          <a:lstStyle/>
          <a:p>
            <a:pPr algn="l" marL="0" indent="0" lvl="0">
              <a:lnSpc>
                <a:spcPts val="5390"/>
              </a:lnSpc>
              <a:spcBef>
                <a:spcPct val="0"/>
              </a:spcBef>
            </a:pPr>
            <a:r>
              <a:rPr lang="en-US" b="true" sz="4900" spc="-49">
                <a:solidFill>
                  <a:srgbClr val="000000"/>
                </a:solidFill>
                <a:latin typeface="Libre Baskerville Bold"/>
                <a:ea typeface="Libre Baskerville Bold"/>
                <a:cs typeface="Libre Baskerville Bold"/>
                <a:sym typeface="Libre Baskerville Bold"/>
              </a:rPr>
              <a:t>Flux de l'Architecture Globale</a:t>
            </a:r>
          </a:p>
        </p:txBody>
      </p:sp>
      <p:sp>
        <p:nvSpPr>
          <p:cNvPr name="TextBox 62" id="62"/>
          <p:cNvSpPr txBox="true"/>
          <p:nvPr/>
        </p:nvSpPr>
        <p:spPr>
          <a:xfrm rot="0">
            <a:off x="9456199" y="5563552"/>
            <a:ext cx="4788575" cy="251460"/>
          </a:xfrm>
          <a:prstGeom prst="rect">
            <a:avLst/>
          </a:prstGeom>
        </p:spPr>
        <p:txBody>
          <a:bodyPr anchor="t" rtlCol="false" tIns="0" lIns="0" bIns="0" rIns="0">
            <a:spAutoFit/>
          </a:bodyPr>
          <a:lstStyle/>
          <a:p>
            <a:pPr algn="ctr">
              <a:lnSpc>
                <a:spcPts val="1979"/>
              </a:lnSpc>
              <a:spcBef>
                <a:spcPct val="0"/>
              </a:spcBef>
            </a:pPr>
            <a:r>
              <a:rPr lang="en-US" b="true" sz="1799">
                <a:solidFill>
                  <a:srgbClr val="000000"/>
                </a:solidFill>
                <a:latin typeface="Inter Bold"/>
                <a:ea typeface="Inter Bold"/>
                <a:cs typeface="Inter Bold"/>
                <a:sym typeface="Inter Bold"/>
              </a:rPr>
              <a:t>Groupe de ressources (rg-devops-project)</a:t>
            </a:r>
          </a:p>
        </p:txBody>
      </p:sp>
      <p:sp>
        <p:nvSpPr>
          <p:cNvPr name="TextBox 63" id="63"/>
          <p:cNvSpPr txBox="true"/>
          <p:nvPr/>
        </p:nvSpPr>
        <p:spPr>
          <a:xfrm rot="0">
            <a:off x="11109856" y="1026927"/>
            <a:ext cx="2690474" cy="306704"/>
          </a:xfrm>
          <a:prstGeom prst="rect">
            <a:avLst/>
          </a:prstGeom>
        </p:spPr>
        <p:txBody>
          <a:bodyPr anchor="t" rtlCol="false" tIns="0" lIns="0" bIns="0" rIns="0">
            <a:spAutoFit/>
          </a:bodyPr>
          <a:lstStyle/>
          <a:p>
            <a:pPr algn="l">
              <a:lnSpc>
                <a:spcPts val="2520"/>
              </a:lnSpc>
            </a:pPr>
            <a:r>
              <a:rPr lang="en-US" sz="1800" spc="-36" b="true">
                <a:solidFill>
                  <a:srgbClr val="000000"/>
                </a:solidFill>
                <a:latin typeface="Inter Bold"/>
                <a:ea typeface="Inter Bold"/>
                <a:cs typeface="Inter Bold"/>
                <a:sym typeface="Inter Bold"/>
              </a:rPr>
              <a:t>Dveloppeur</a:t>
            </a:r>
          </a:p>
        </p:txBody>
      </p:sp>
      <p:sp>
        <p:nvSpPr>
          <p:cNvPr name="TextBox 64" id="64"/>
          <p:cNvSpPr txBox="true"/>
          <p:nvPr/>
        </p:nvSpPr>
        <p:spPr>
          <a:xfrm rot="0">
            <a:off x="8352540" y="7223480"/>
            <a:ext cx="2569803" cy="730885"/>
          </a:xfrm>
          <a:prstGeom prst="rect">
            <a:avLst/>
          </a:prstGeom>
        </p:spPr>
        <p:txBody>
          <a:bodyPr anchor="t" rtlCol="false" tIns="0" lIns="0" bIns="0" rIns="0">
            <a:spAutoFit/>
          </a:bodyPr>
          <a:lstStyle/>
          <a:p>
            <a:pPr algn="ctr">
              <a:lnSpc>
                <a:spcPts val="1430"/>
              </a:lnSpc>
              <a:spcBef>
                <a:spcPct val="0"/>
              </a:spcBef>
            </a:pPr>
            <a:r>
              <a:rPr lang="en-US" b="true" sz="1300">
                <a:solidFill>
                  <a:srgbClr val="000000"/>
                </a:solidFill>
                <a:latin typeface="Inter Bold"/>
                <a:ea typeface="Inter Bold"/>
                <a:cs typeface="Inter Bold"/>
                <a:sym typeface="Inter Bold"/>
              </a:rPr>
              <a:t>VM MASTER </a:t>
            </a:r>
          </a:p>
          <a:p>
            <a:pPr algn="ctr">
              <a:lnSpc>
                <a:spcPts val="1430"/>
              </a:lnSpc>
              <a:spcBef>
                <a:spcPct val="0"/>
              </a:spcBef>
            </a:pPr>
            <a:r>
              <a:rPr lang="en-US" sz="1300">
                <a:solidFill>
                  <a:srgbClr val="000000"/>
                </a:solidFill>
                <a:latin typeface="Inter"/>
                <a:ea typeface="Inter"/>
                <a:cs typeface="Inter"/>
                <a:sym typeface="Inter"/>
              </a:rPr>
              <a:t> (Kubernetes Control Plane)</a:t>
            </a:r>
          </a:p>
          <a:p>
            <a:pPr algn="ctr">
              <a:lnSpc>
                <a:spcPts val="1430"/>
              </a:lnSpc>
              <a:spcBef>
                <a:spcPct val="0"/>
              </a:spcBef>
            </a:pPr>
          </a:p>
          <a:p>
            <a:pPr algn="ctr">
              <a:lnSpc>
                <a:spcPts val="1430"/>
              </a:lnSpc>
              <a:spcBef>
                <a:spcPct val="0"/>
              </a:spcBef>
            </a:pPr>
            <a:r>
              <a:rPr lang="en-US" sz="1300">
                <a:solidFill>
                  <a:srgbClr val="000000"/>
                </a:solidFill>
                <a:latin typeface="Inter"/>
                <a:ea typeface="Inter"/>
                <a:cs typeface="Inter"/>
                <a:sym typeface="Inter"/>
              </a:rPr>
              <a:t> Port 6443 (K8s API)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EEEEF"/>
        </a:solidFill>
      </p:bgPr>
    </p:bg>
    <p:spTree>
      <p:nvGrpSpPr>
        <p:cNvPr id="1" name=""/>
        <p:cNvGrpSpPr/>
        <p:nvPr/>
      </p:nvGrpSpPr>
      <p:grpSpPr>
        <a:xfrm>
          <a:off x="0" y="0"/>
          <a:ext cx="0" cy="0"/>
          <a:chOff x="0" y="0"/>
          <a:chExt cx="0" cy="0"/>
        </a:xfrm>
      </p:grpSpPr>
      <p:grpSp>
        <p:nvGrpSpPr>
          <p:cNvPr name="Group 2" id="2"/>
          <p:cNvGrpSpPr/>
          <p:nvPr/>
        </p:nvGrpSpPr>
        <p:grpSpPr>
          <a:xfrm rot="5400000">
            <a:off x="15736621" y="803205"/>
            <a:ext cx="1857699" cy="1857699"/>
            <a:chOff x="0" y="0"/>
            <a:chExt cx="2476932" cy="2476932"/>
          </a:xfrm>
        </p:grpSpPr>
        <p:grpSp>
          <p:nvGrpSpPr>
            <p:cNvPr name="Group 3" id="3"/>
            <p:cNvGrpSpPr/>
            <p:nvPr/>
          </p:nvGrpSpPr>
          <p:grpSpPr>
            <a:xfrm rot="0">
              <a:off x="0" y="0"/>
              <a:ext cx="1238466" cy="1238466"/>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5" id="5"/>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6" id="6"/>
            <p:cNvGrpSpPr/>
            <p:nvPr/>
          </p:nvGrpSpPr>
          <p:grpSpPr>
            <a:xfrm rot="0">
              <a:off x="0" y="1238466"/>
              <a:ext cx="1238466" cy="123846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8" id="8"/>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9" id="9"/>
            <p:cNvGrpSpPr/>
            <p:nvPr/>
          </p:nvGrpSpPr>
          <p:grpSpPr>
            <a:xfrm rot="0">
              <a:off x="1238466" y="0"/>
              <a:ext cx="1238466" cy="123846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11" id="11"/>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grpSp>
        <p:nvGrpSpPr>
          <p:cNvPr name="Group 12" id="12"/>
          <p:cNvGrpSpPr/>
          <p:nvPr/>
        </p:nvGrpSpPr>
        <p:grpSpPr>
          <a:xfrm rot="-5400000">
            <a:off x="0" y="8429301"/>
            <a:ext cx="1857699" cy="1857699"/>
            <a:chOff x="0" y="0"/>
            <a:chExt cx="2476932" cy="2476932"/>
          </a:xfrm>
        </p:grpSpPr>
        <p:grpSp>
          <p:nvGrpSpPr>
            <p:cNvPr name="Group 13" id="13"/>
            <p:cNvGrpSpPr/>
            <p:nvPr/>
          </p:nvGrpSpPr>
          <p:grpSpPr>
            <a:xfrm rot="0">
              <a:off x="0" y="0"/>
              <a:ext cx="1238466" cy="123846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15" id="15"/>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16" id="16"/>
            <p:cNvGrpSpPr/>
            <p:nvPr/>
          </p:nvGrpSpPr>
          <p:grpSpPr>
            <a:xfrm rot="0">
              <a:off x="0" y="1238466"/>
              <a:ext cx="1238466" cy="123846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18" id="18"/>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19" id="19"/>
            <p:cNvGrpSpPr/>
            <p:nvPr/>
          </p:nvGrpSpPr>
          <p:grpSpPr>
            <a:xfrm rot="0">
              <a:off x="1238466" y="0"/>
              <a:ext cx="1238466" cy="123846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21" id="21"/>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grpSp>
        <p:nvGrpSpPr>
          <p:cNvPr name="Group 22" id="22"/>
          <p:cNvGrpSpPr/>
          <p:nvPr/>
        </p:nvGrpSpPr>
        <p:grpSpPr>
          <a:xfrm rot="0">
            <a:off x="7033360" y="2911129"/>
            <a:ext cx="1196036" cy="1196036"/>
            <a:chOff x="0" y="0"/>
            <a:chExt cx="1594714" cy="1594714"/>
          </a:xfrm>
        </p:grpSpPr>
        <p:grpSp>
          <p:nvGrpSpPr>
            <p:cNvPr name="Group 23" id="23"/>
            <p:cNvGrpSpPr/>
            <p:nvPr/>
          </p:nvGrpSpPr>
          <p:grpSpPr>
            <a:xfrm rot="0">
              <a:off x="0" y="0"/>
              <a:ext cx="797357" cy="797357"/>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25" id="25"/>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26" id="26"/>
            <p:cNvGrpSpPr/>
            <p:nvPr/>
          </p:nvGrpSpPr>
          <p:grpSpPr>
            <a:xfrm rot="0">
              <a:off x="0" y="797357"/>
              <a:ext cx="797357" cy="797357"/>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28" id="28"/>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29" id="29"/>
            <p:cNvGrpSpPr/>
            <p:nvPr/>
          </p:nvGrpSpPr>
          <p:grpSpPr>
            <a:xfrm rot="0">
              <a:off x="797357" y="0"/>
              <a:ext cx="797357" cy="797357"/>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31" id="31"/>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grpSp>
        <p:nvGrpSpPr>
          <p:cNvPr name="Group 32" id="32"/>
          <p:cNvGrpSpPr/>
          <p:nvPr/>
        </p:nvGrpSpPr>
        <p:grpSpPr>
          <a:xfrm rot="5400000">
            <a:off x="1133475" y="1333631"/>
            <a:ext cx="928850" cy="928850"/>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34" id="34"/>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grpSp>
        <p:nvGrpSpPr>
          <p:cNvPr name="Group 35" id="35"/>
          <p:cNvGrpSpPr/>
          <p:nvPr/>
        </p:nvGrpSpPr>
        <p:grpSpPr>
          <a:xfrm rot="5400000">
            <a:off x="15164469" y="8429301"/>
            <a:ext cx="928850" cy="928850"/>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37" id="37"/>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sp>
        <p:nvSpPr>
          <p:cNvPr name="Freeform 38" id="38"/>
          <p:cNvSpPr/>
          <p:nvPr/>
        </p:nvSpPr>
        <p:spPr>
          <a:xfrm flipH="false" flipV="false" rot="0">
            <a:off x="8502356" y="2625989"/>
            <a:ext cx="8312075" cy="1766316"/>
          </a:xfrm>
          <a:custGeom>
            <a:avLst/>
            <a:gdLst/>
            <a:ahLst/>
            <a:cxnLst/>
            <a:rect r="r" b="b" t="t" l="l"/>
            <a:pathLst>
              <a:path h="1766316" w="8312075">
                <a:moveTo>
                  <a:pt x="0" y="0"/>
                </a:moveTo>
                <a:lnTo>
                  <a:pt x="8312075" y="0"/>
                </a:lnTo>
                <a:lnTo>
                  <a:pt x="8312075" y="1766316"/>
                </a:lnTo>
                <a:lnTo>
                  <a:pt x="0" y="1766316"/>
                </a:lnTo>
                <a:lnTo>
                  <a:pt x="0" y="0"/>
                </a:lnTo>
                <a:close/>
              </a:path>
            </a:pathLst>
          </a:custGeom>
          <a:blipFill>
            <a:blip r:embed="rId2"/>
            <a:stretch>
              <a:fillRect l="0" t="0" r="0" b="0"/>
            </a:stretch>
          </a:blipFill>
        </p:spPr>
      </p:sp>
      <p:sp>
        <p:nvSpPr>
          <p:cNvPr name="Freeform 39" id="39"/>
          <p:cNvSpPr/>
          <p:nvPr/>
        </p:nvSpPr>
        <p:spPr>
          <a:xfrm flipH="false" flipV="false" rot="0">
            <a:off x="8502356" y="4973350"/>
            <a:ext cx="8312075" cy="2874905"/>
          </a:xfrm>
          <a:custGeom>
            <a:avLst/>
            <a:gdLst/>
            <a:ahLst/>
            <a:cxnLst/>
            <a:rect r="r" b="b" t="t" l="l"/>
            <a:pathLst>
              <a:path h="2874905" w="8312075">
                <a:moveTo>
                  <a:pt x="0" y="0"/>
                </a:moveTo>
                <a:lnTo>
                  <a:pt x="8312075" y="0"/>
                </a:lnTo>
                <a:lnTo>
                  <a:pt x="8312075" y="2874906"/>
                </a:lnTo>
                <a:lnTo>
                  <a:pt x="0" y="2874906"/>
                </a:lnTo>
                <a:lnTo>
                  <a:pt x="0" y="0"/>
                </a:lnTo>
                <a:close/>
              </a:path>
            </a:pathLst>
          </a:custGeom>
          <a:blipFill>
            <a:blip r:embed="rId3"/>
            <a:stretch>
              <a:fillRect l="0" t="0" r="-188" b="0"/>
            </a:stretch>
          </a:blipFill>
        </p:spPr>
      </p:sp>
      <p:sp>
        <p:nvSpPr>
          <p:cNvPr name="TextBox 40" id="40"/>
          <p:cNvSpPr txBox="true"/>
          <p:nvPr/>
        </p:nvSpPr>
        <p:spPr>
          <a:xfrm rot="0">
            <a:off x="377600" y="9748607"/>
            <a:ext cx="4562061" cy="207645"/>
          </a:xfrm>
          <a:prstGeom prst="rect">
            <a:avLst/>
          </a:prstGeom>
        </p:spPr>
        <p:txBody>
          <a:bodyPr anchor="t" rtlCol="false" tIns="0" lIns="0" bIns="0" rIns="0">
            <a:spAutoFit/>
          </a:bodyPr>
          <a:lstStyle/>
          <a:p>
            <a:pPr algn="l">
              <a:lnSpc>
                <a:spcPts val="1679"/>
              </a:lnSpc>
            </a:pPr>
            <a:r>
              <a:rPr lang="en-US" sz="1199" b="true">
                <a:solidFill>
                  <a:srgbClr val="000000"/>
                </a:solidFill>
                <a:latin typeface="Inter Bold"/>
                <a:ea typeface="Inter Bold"/>
                <a:cs typeface="Inter Bold"/>
                <a:sym typeface="Inter Bold"/>
              </a:rPr>
              <a:t>www.reallygreatsite.com</a:t>
            </a:r>
          </a:p>
        </p:txBody>
      </p:sp>
      <p:grpSp>
        <p:nvGrpSpPr>
          <p:cNvPr name="Group 41" id="41"/>
          <p:cNvGrpSpPr/>
          <p:nvPr/>
        </p:nvGrpSpPr>
        <p:grpSpPr>
          <a:xfrm rot="0">
            <a:off x="377600" y="321611"/>
            <a:ext cx="2102569" cy="275311"/>
            <a:chOff x="0" y="0"/>
            <a:chExt cx="2803426" cy="367081"/>
          </a:xfrm>
        </p:grpSpPr>
        <p:sp>
          <p:nvSpPr>
            <p:cNvPr name="TextBox 42" id="42"/>
            <p:cNvSpPr txBox="true"/>
            <p:nvPr/>
          </p:nvSpPr>
          <p:spPr>
            <a:xfrm rot="0">
              <a:off x="0" y="19050"/>
              <a:ext cx="1508522" cy="341630"/>
            </a:xfrm>
            <a:prstGeom prst="rect">
              <a:avLst/>
            </a:prstGeom>
          </p:spPr>
          <p:txBody>
            <a:bodyPr anchor="t" rtlCol="false" tIns="0" lIns="0" bIns="0" rIns="0">
              <a:spAutoFit/>
            </a:bodyPr>
            <a:lstStyle/>
            <a:p>
              <a:pPr algn="ctr">
                <a:lnSpc>
                  <a:spcPts val="1979"/>
                </a:lnSpc>
                <a:spcBef>
                  <a:spcPct val="0"/>
                </a:spcBef>
              </a:pPr>
              <a:r>
                <a:rPr lang="en-US" b="true" sz="1799">
                  <a:solidFill>
                    <a:srgbClr val="000000"/>
                  </a:solidFill>
                  <a:latin typeface="Libre Baskerville Bold"/>
                  <a:ea typeface="Libre Baskerville Bold"/>
                  <a:cs typeface="Libre Baskerville Bold"/>
                  <a:sym typeface="Libre Baskerville Bold"/>
                </a:rPr>
                <a:t>Arowwai </a:t>
              </a:r>
            </a:p>
          </p:txBody>
        </p:sp>
        <p:sp>
          <p:nvSpPr>
            <p:cNvPr name="TextBox 43" id="43"/>
            <p:cNvSpPr txBox="true"/>
            <p:nvPr/>
          </p:nvSpPr>
          <p:spPr>
            <a:xfrm rot="0">
              <a:off x="1521222" y="89374"/>
              <a:ext cx="1282204" cy="277707"/>
            </a:xfrm>
            <a:prstGeom prst="rect">
              <a:avLst/>
            </a:prstGeom>
          </p:spPr>
          <p:txBody>
            <a:bodyPr anchor="t" rtlCol="false" tIns="0" lIns="0" bIns="0" rIns="0">
              <a:spAutoFit/>
            </a:bodyPr>
            <a:lstStyle/>
            <a:p>
              <a:pPr algn="ctr">
                <a:lnSpc>
                  <a:spcPts val="1540"/>
                </a:lnSpc>
                <a:spcBef>
                  <a:spcPct val="0"/>
                </a:spcBef>
              </a:pPr>
              <a:r>
                <a:rPr lang="en-US" sz="1400">
                  <a:solidFill>
                    <a:srgbClr val="929292"/>
                  </a:solidFill>
                  <a:latin typeface="Lovelo"/>
                  <a:ea typeface="Lovelo"/>
                  <a:cs typeface="Lovelo"/>
                  <a:sym typeface="Lovelo"/>
                </a:rPr>
                <a:t>Industries</a:t>
              </a:r>
            </a:p>
          </p:txBody>
        </p:sp>
      </p:grpSp>
      <p:sp>
        <p:nvSpPr>
          <p:cNvPr name="TextBox 44" id="44"/>
          <p:cNvSpPr txBox="true"/>
          <p:nvPr/>
        </p:nvSpPr>
        <p:spPr>
          <a:xfrm rot="0">
            <a:off x="1133475" y="3058193"/>
            <a:ext cx="6497903" cy="1406525"/>
          </a:xfrm>
          <a:prstGeom prst="rect">
            <a:avLst/>
          </a:prstGeom>
        </p:spPr>
        <p:txBody>
          <a:bodyPr anchor="t" rtlCol="false" tIns="0" lIns="0" bIns="0" rIns="0">
            <a:spAutoFit/>
          </a:bodyPr>
          <a:lstStyle/>
          <a:p>
            <a:pPr algn="l" marL="0" indent="0" lvl="0">
              <a:lnSpc>
                <a:spcPts val="5500"/>
              </a:lnSpc>
              <a:spcBef>
                <a:spcPct val="0"/>
              </a:spcBef>
            </a:pPr>
            <a:r>
              <a:rPr lang="en-US" b="true" sz="5000" spc="-50">
                <a:solidFill>
                  <a:srgbClr val="000000"/>
                </a:solidFill>
                <a:latin typeface="Libre Baskerville Bold"/>
                <a:ea typeface="Libre Baskerville Bold"/>
                <a:cs typeface="Libre Baskerville Bold"/>
                <a:sym typeface="Libre Baskerville Bold"/>
              </a:rPr>
              <a:t>Infrastructure as Code(Terraform)</a:t>
            </a:r>
          </a:p>
        </p:txBody>
      </p:sp>
      <p:sp>
        <p:nvSpPr>
          <p:cNvPr name="TextBox 45" id="45"/>
          <p:cNvSpPr txBox="true"/>
          <p:nvPr/>
        </p:nvSpPr>
        <p:spPr>
          <a:xfrm rot="0">
            <a:off x="1133475" y="4582385"/>
            <a:ext cx="5605964" cy="2506979"/>
          </a:xfrm>
          <a:prstGeom prst="rect">
            <a:avLst/>
          </a:prstGeom>
        </p:spPr>
        <p:txBody>
          <a:bodyPr anchor="t" rtlCol="false" tIns="0" lIns="0" bIns="0" rIns="0">
            <a:spAutoFit/>
          </a:bodyPr>
          <a:lstStyle/>
          <a:p>
            <a:pPr algn="l" marL="0" indent="0" lvl="0">
              <a:lnSpc>
                <a:spcPts val="2520"/>
              </a:lnSpc>
              <a:spcBef>
                <a:spcPct val="0"/>
              </a:spcBef>
            </a:pPr>
            <a:r>
              <a:rPr lang="en-US" sz="1800" spc="-36">
                <a:solidFill>
                  <a:srgbClr val="000000"/>
                </a:solidFill>
                <a:latin typeface="Inter"/>
                <a:ea typeface="Inter"/>
                <a:cs typeface="Inter"/>
                <a:sym typeface="Inter"/>
              </a:rPr>
              <a:t>Terraform transforme l'infrastructure cloud en code. Plutôt que de cliquer manuellement dans Azure, nous décrivons chaque ressource—réseaux, pare-feu, machines virtuelles, clés SSH—dans un fichier Terraform. Le résultat : une infrastructure reproductible, versionnable, et automatisable en une seule commande.</a:t>
            </a:r>
          </a:p>
          <a:p>
            <a:pPr algn="l" marL="0" indent="0" lvl="0">
              <a:lnSpc>
                <a:spcPts val="2520"/>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EEEEF"/>
        </a:solidFill>
      </p:bgPr>
    </p:bg>
    <p:spTree>
      <p:nvGrpSpPr>
        <p:cNvPr id="1" name=""/>
        <p:cNvGrpSpPr/>
        <p:nvPr/>
      </p:nvGrpSpPr>
      <p:grpSpPr>
        <a:xfrm>
          <a:off x="0" y="0"/>
          <a:ext cx="0" cy="0"/>
          <a:chOff x="0" y="0"/>
          <a:chExt cx="0" cy="0"/>
        </a:xfrm>
      </p:grpSpPr>
      <p:grpSp>
        <p:nvGrpSpPr>
          <p:cNvPr name="Group 2" id="2"/>
          <p:cNvGrpSpPr/>
          <p:nvPr/>
        </p:nvGrpSpPr>
        <p:grpSpPr>
          <a:xfrm rot="5400000">
            <a:off x="15736621" y="803205"/>
            <a:ext cx="1857699" cy="1857699"/>
            <a:chOff x="0" y="0"/>
            <a:chExt cx="2476932" cy="2476932"/>
          </a:xfrm>
        </p:grpSpPr>
        <p:grpSp>
          <p:nvGrpSpPr>
            <p:cNvPr name="Group 3" id="3"/>
            <p:cNvGrpSpPr/>
            <p:nvPr/>
          </p:nvGrpSpPr>
          <p:grpSpPr>
            <a:xfrm rot="0">
              <a:off x="0" y="0"/>
              <a:ext cx="1238466" cy="1238466"/>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5" id="5"/>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6" id="6"/>
            <p:cNvGrpSpPr/>
            <p:nvPr/>
          </p:nvGrpSpPr>
          <p:grpSpPr>
            <a:xfrm rot="0">
              <a:off x="0" y="1238466"/>
              <a:ext cx="1238466" cy="123846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8" id="8"/>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9" id="9"/>
            <p:cNvGrpSpPr/>
            <p:nvPr/>
          </p:nvGrpSpPr>
          <p:grpSpPr>
            <a:xfrm rot="0">
              <a:off x="1238466" y="0"/>
              <a:ext cx="1238466" cy="123846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11" id="11"/>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grpSp>
        <p:nvGrpSpPr>
          <p:cNvPr name="Group 12" id="12"/>
          <p:cNvGrpSpPr/>
          <p:nvPr/>
        </p:nvGrpSpPr>
        <p:grpSpPr>
          <a:xfrm rot="-5400000">
            <a:off x="0" y="8429301"/>
            <a:ext cx="1857699" cy="1857699"/>
            <a:chOff x="0" y="0"/>
            <a:chExt cx="2476932" cy="2476932"/>
          </a:xfrm>
        </p:grpSpPr>
        <p:grpSp>
          <p:nvGrpSpPr>
            <p:cNvPr name="Group 13" id="13"/>
            <p:cNvGrpSpPr/>
            <p:nvPr/>
          </p:nvGrpSpPr>
          <p:grpSpPr>
            <a:xfrm rot="0">
              <a:off x="0" y="0"/>
              <a:ext cx="1238466" cy="123846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15" id="15"/>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16" id="16"/>
            <p:cNvGrpSpPr/>
            <p:nvPr/>
          </p:nvGrpSpPr>
          <p:grpSpPr>
            <a:xfrm rot="0">
              <a:off x="0" y="1238466"/>
              <a:ext cx="1238466" cy="123846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18" id="18"/>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19" id="19"/>
            <p:cNvGrpSpPr/>
            <p:nvPr/>
          </p:nvGrpSpPr>
          <p:grpSpPr>
            <a:xfrm rot="0">
              <a:off x="1238466" y="0"/>
              <a:ext cx="1238466" cy="123846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21" id="21"/>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grpSp>
        <p:nvGrpSpPr>
          <p:cNvPr name="Group 22" id="22"/>
          <p:cNvGrpSpPr/>
          <p:nvPr/>
        </p:nvGrpSpPr>
        <p:grpSpPr>
          <a:xfrm rot="0">
            <a:off x="7033360" y="2911129"/>
            <a:ext cx="1196036" cy="1196036"/>
            <a:chOff x="0" y="0"/>
            <a:chExt cx="1594714" cy="1594714"/>
          </a:xfrm>
        </p:grpSpPr>
        <p:grpSp>
          <p:nvGrpSpPr>
            <p:cNvPr name="Group 23" id="23"/>
            <p:cNvGrpSpPr/>
            <p:nvPr/>
          </p:nvGrpSpPr>
          <p:grpSpPr>
            <a:xfrm rot="0">
              <a:off x="0" y="0"/>
              <a:ext cx="797357" cy="797357"/>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25" id="25"/>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26" id="26"/>
            <p:cNvGrpSpPr/>
            <p:nvPr/>
          </p:nvGrpSpPr>
          <p:grpSpPr>
            <a:xfrm rot="0">
              <a:off x="0" y="797357"/>
              <a:ext cx="797357" cy="797357"/>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28" id="28"/>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29" id="29"/>
            <p:cNvGrpSpPr/>
            <p:nvPr/>
          </p:nvGrpSpPr>
          <p:grpSpPr>
            <a:xfrm rot="0">
              <a:off x="797357" y="0"/>
              <a:ext cx="797357" cy="797357"/>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31" id="31"/>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grpSp>
        <p:nvGrpSpPr>
          <p:cNvPr name="Group 32" id="32"/>
          <p:cNvGrpSpPr/>
          <p:nvPr/>
        </p:nvGrpSpPr>
        <p:grpSpPr>
          <a:xfrm rot="5400000">
            <a:off x="1133475" y="1333631"/>
            <a:ext cx="928850" cy="928850"/>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34" id="34"/>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grpSp>
        <p:nvGrpSpPr>
          <p:cNvPr name="Group 35" id="35"/>
          <p:cNvGrpSpPr/>
          <p:nvPr/>
        </p:nvGrpSpPr>
        <p:grpSpPr>
          <a:xfrm rot="5400000">
            <a:off x="15164469" y="8429301"/>
            <a:ext cx="928850" cy="928850"/>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37" id="37"/>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sp>
        <p:nvSpPr>
          <p:cNvPr name="Freeform 38" id="38"/>
          <p:cNvSpPr/>
          <p:nvPr/>
        </p:nvSpPr>
        <p:spPr>
          <a:xfrm flipH="false" flipV="false" rot="0">
            <a:off x="11671634" y="6150012"/>
            <a:ext cx="6782223" cy="3208139"/>
          </a:xfrm>
          <a:custGeom>
            <a:avLst/>
            <a:gdLst/>
            <a:ahLst/>
            <a:cxnLst/>
            <a:rect r="r" b="b" t="t" l="l"/>
            <a:pathLst>
              <a:path h="3208139" w="6782223">
                <a:moveTo>
                  <a:pt x="0" y="0"/>
                </a:moveTo>
                <a:lnTo>
                  <a:pt x="6782224" y="0"/>
                </a:lnTo>
                <a:lnTo>
                  <a:pt x="6782224" y="3208138"/>
                </a:lnTo>
                <a:lnTo>
                  <a:pt x="0" y="3208138"/>
                </a:lnTo>
                <a:lnTo>
                  <a:pt x="0" y="0"/>
                </a:lnTo>
                <a:close/>
              </a:path>
            </a:pathLst>
          </a:custGeom>
          <a:blipFill>
            <a:blip r:embed="rId2"/>
            <a:stretch>
              <a:fillRect l="0" t="0" r="-5922" b="0"/>
            </a:stretch>
          </a:blipFill>
        </p:spPr>
      </p:sp>
      <p:sp>
        <p:nvSpPr>
          <p:cNvPr name="Freeform 39" id="39"/>
          <p:cNvSpPr/>
          <p:nvPr/>
        </p:nvSpPr>
        <p:spPr>
          <a:xfrm flipH="false" flipV="false" rot="0">
            <a:off x="11626401" y="1798055"/>
            <a:ext cx="6661599" cy="3134974"/>
          </a:xfrm>
          <a:custGeom>
            <a:avLst/>
            <a:gdLst/>
            <a:ahLst/>
            <a:cxnLst/>
            <a:rect r="r" b="b" t="t" l="l"/>
            <a:pathLst>
              <a:path h="3134974" w="6661599">
                <a:moveTo>
                  <a:pt x="0" y="0"/>
                </a:moveTo>
                <a:lnTo>
                  <a:pt x="6661599" y="0"/>
                </a:lnTo>
                <a:lnTo>
                  <a:pt x="6661599" y="3134975"/>
                </a:lnTo>
                <a:lnTo>
                  <a:pt x="0" y="3134975"/>
                </a:lnTo>
                <a:lnTo>
                  <a:pt x="0" y="0"/>
                </a:lnTo>
                <a:close/>
              </a:path>
            </a:pathLst>
          </a:custGeom>
          <a:blipFill>
            <a:blip r:embed="rId3"/>
            <a:stretch>
              <a:fillRect l="0" t="0" r="0" b="-11173"/>
            </a:stretch>
          </a:blipFill>
        </p:spPr>
      </p:sp>
      <p:sp>
        <p:nvSpPr>
          <p:cNvPr name="Freeform 40" id="40"/>
          <p:cNvSpPr/>
          <p:nvPr/>
        </p:nvSpPr>
        <p:spPr>
          <a:xfrm flipH="false" flipV="false" rot="0">
            <a:off x="6490605" y="4622365"/>
            <a:ext cx="4807539" cy="3109778"/>
          </a:xfrm>
          <a:custGeom>
            <a:avLst/>
            <a:gdLst/>
            <a:ahLst/>
            <a:cxnLst/>
            <a:rect r="r" b="b" t="t" l="l"/>
            <a:pathLst>
              <a:path h="3109778" w="4807539">
                <a:moveTo>
                  <a:pt x="0" y="0"/>
                </a:moveTo>
                <a:lnTo>
                  <a:pt x="4807538" y="0"/>
                </a:lnTo>
                <a:lnTo>
                  <a:pt x="4807538" y="3109778"/>
                </a:lnTo>
                <a:lnTo>
                  <a:pt x="0" y="3109778"/>
                </a:lnTo>
                <a:lnTo>
                  <a:pt x="0" y="0"/>
                </a:lnTo>
                <a:close/>
              </a:path>
            </a:pathLst>
          </a:custGeom>
          <a:blipFill>
            <a:blip r:embed="rId4"/>
            <a:stretch>
              <a:fillRect l="0" t="0" r="-33029" b="0"/>
            </a:stretch>
          </a:blipFill>
        </p:spPr>
      </p:sp>
      <p:sp>
        <p:nvSpPr>
          <p:cNvPr name="TextBox 41" id="41"/>
          <p:cNvSpPr txBox="true"/>
          <p:nvPr/>
        </p:nvSpPr>
        <p:spPr>
          <a:xfrm rot="0">
            <a:off x="377600" y="9748607"/>
            <a:ext cx="4562061" cy="207645"/>
          </a:xfrm>
          <a:prstGeom prst="rect">
            <a:avLst/>
          </a:prstGeom>
        </p:spPr>
        <p:txBody>
          <a:bodyPr anchor="t" rtlCol="false" tIns="0" lIns="0" bIns="0" rIns="0">
            <a:spAutoFit/>
          </a:bodyPr>
          <a:lstStyle/>
          <a:p>
            <a:pPr algn="l">
              <a:lnSpc>
                <a:spcPts val="1679"/>
              </a:lnSpc>
            </a:pPr>
            <a:r>
              <a:rPr lang="en-US" sz="1199" b="true">
                <a:solidFill>
                  <a:srgbClr val="000000"/>
                </a:solidFill>
                <a:latin typeface="Inter Bold"/>
                <a:ea typeface="Inter Bold"/>
                <a:cs typeface="Inter Bold"/>
                <a:sym typeface="Inter Bold"/>
              </a:rPr>
              <a:t>www.reallygreatsite.com</a:t>
            </a:r>
          </a:p>
        </p:txBody>
      </p:sp>
      <p:grpSp>
        <p:nvGrpSpPr>
          <p:cNvPr name="Group 42" id="42"/>
          <p:cNvGrpSpPr/>
          <p:nvPr/>
        </p:nvGrpSpPr>
        <p:grpSpPr>
          <a:xfrm rot="0">
            <a:off x="377600" y="321611"/>
            <a:ext cx="2102569" cy="275311"/>
            <a:chOff x="0" y="0"/>
            <a:chExt cx="2803426" cy="367081"/>
          </a:xfrm>
        </p:grpSpPr>
        <p:sp>
          <p:nvSpPr>
            <p:cNvPr name="TextBox 43" id="43"/>
            <p:cNvSpPr txBox="true"/>
            <p:nvPr/>
          </p:nvSpPr>
          <p:spPr>
            <a:xfrm rot="0">
              <a:off x="0" y="19050"/>
              <a:ext cx="1508522" cy="341630"/>
            </a:xfrm>
            <a:prstGeom prst="rect">
              <a:avLst/>
            </a:prstGeom>
          </p:spPr>
          <p:txBody>
            <a:bodyPr anchor="t" rtlCol="false" tIns="0" lIns="0" bIns="0" rIns="0">
              <a:spAutoFit/>
            </a:bodyPr>
            <a:lstStyle/>
            <a:p>
              <a:pPr algn="ctr">
                <a:lnSpc>
                  <a:spcPts val="1979"/>
                </a:lnSpc>
                <a:spcBef>
                  <a:spcPct val="0"/>
                </a:spcBef>
              </a:pPr>
              <a:r>
                <a:rPr lang="en-US" b="true" sz="1799">
                  <a:solidFill>
                    <a:srgbClr val="000000"/>
                  </a:solidFill>
                  <a:latin typeface="Libre Baskerville Bold"/>
                  <a:ea typeface="Libre Baskerville Bold"/>
                  <a:cs typeface="Libre Baskerville Bold"/>
                  <a:sym typeface="Libre Baskerville Bold"/>
                </a:rPr>
                <a:t>Arowwai </a:t>
              </a:r>
            </a:p>
          </p:txBody>
        </p:sp>
        <p:sp>
          <p:nvSpPr>
            <p:cNvPr name="TextBox 44" id="44"/>
            <p:cNvSpPr txBox="true"/>
            <p:nvPr/>
          </p:nvSpPr>
          <p:spPr>
            <a:xfrm rot="0">
              <a:off x="1521222" y="89374"/>
              <a:ext cx="1282204" cy="277707"/>
            </a:xfrm>
            <a:prstGeom prst="rect">
              <a:avLst/>
            </a:prstGeom>
          </p:spPr>
          <p:txBody>
            <a:bodyPr anchor="t" rtlCol="false" tIns="0" lIns="0" bIns="0" rIns="0">
              <a:spAutoFit/>
            </a:bodyPr>
            <a:lstStyle/>
            <a:p>
              <a:pPr algn="ctr">
                <a:lnSpc>
                  <a:spcPts val="1540"/>
                </a:lnSpc>
                <a:spcBef>
                  <a:spcPct val="0"/>
                </a:spcBef>
              </a:pPr>
              <a:r>
                <a:rPr lang="en-US" sz="1400">
                  <a:solidFill>
                    <a:srgbClr val="929292"/>
                  </a:solidFill>
                  <a:latin typeface="Lovelo"/>
                  <a:ea typeface="Lovelo"/>
                  <a:cs typeface="Lovelo"/>
                  <a:sym typeface="Lovelo"/>
                </a:rPr>
                <a:t>Industries</a:t>
              </a:r>
            </a:p>
          </p:txBody>
        </p:sp>
      </p:grpSp>
      <p:sp>
        <p:nvSpPr>
          <p:cNvPr name="TextBox 45" id="45"/>
          <p:cNvSpPr txBox="true"/>
          <p:nvPr/>
        </p:nvSpPr>
        <p:spPr>
          <a:xfrm rot="0">
            <a:off x="377600" y="3043530"/>
            <a:ext cx="7095921" cy="2101850"/>
          </a:xfrm>
          <a:prstGeom prst="rect">
            <a:avLst/>
          </a:prstGeom>
        </p:spPr>
        <p:txBody>
          <a:bodyPr anchor="t" rtlCol="false" tIns="0" lIns="0" bIns="0" rIns="0">
            <a:spAutoFit/>
          </a:bodyPr>
          <a:lstStyle/>
          <a:p>
            <a:pPr algn="l">
              <a:lnSpc>
                <a:spcPts val="5500"/>
              </a:lnSpc>
            </a:pPr>
            <a:r>
              <a:rPr lang="en-US" sz="5000" spc="-50" b="true">
                <a:solidFill>
                  <a:srgbClr val="000000"/>
                </a:solidFill>
                <a:latin typeface="Libre Baskerville Bold"/>
                <a:ea typeface="Libre Baskerville Bold"/>
                <a:cs typeface="Libre Baskerville Bold"/>
                <a:sym typeface="Libre Baskerville Bold"/>
              </a:rPr>
              <a:t>Configuration Automatisé(Ansible)</a:t>
            </a:r>
          </a:p>
          <a:p>
            <a:pPr algn="l" marL="0" indent="0" lvl="0">
              <a:lnSpc>
                <a:spcPts val="5500"/>
              </a:lnSpc>
              <a:spcBef>
                <a:spcPct val="0"/>
              </a:spcBef>
            </a:pPr>
          </a:p>
        </p:txBody>
      </p:sp>
      <p:sp>
        <p:nvSpPr>
          <p:cNvPr name="TextBox 46" id="46"/>
          <p:cNvSpPr txBox="true"/>
          <p:nvPr/>
        </p:nvSpPr>
        <p:spPr>
          <a:xfrm rot="0">
            <a:off x="582226" y="4584265"/>
            <a:ext cx="5605964" cy="2192654"/>
          </a:xfrm>
          <a:prstGeom prst="rect">
            <a:avLst/>
          </a:prstGeom>
        </p:spPr>
        <p:txBody>
          <a:bodyPr anchor="t" rtlCol="false" tIns="0" lIns="0" bIns="0" rIns="0">
            <a:spAutoFit/>
          </a:bodyPr>
          <a:lstStyle/>
          <a:p>
            <a:pPr algn="l" marL="0" indent="0" lvl="0">
              <a:lnSpc>
                <a:spcPts val="2520"/>
              </a:lnSpc>
              <a:spcBef>
                <a:spcPct val="0"/>
              </a:spcBef>
            </a:pPr>
            <a:r>
              <a:rPr lang="en-US" sz="1800" spc="-36">
                <a:solidFill>
                  <a:srgbClr val="000000"/>
                </a:solidFill>
                <a:latin typeface="Inter"/>
                <a:ea typeface="Inter"/>
                <a:cs typeface="Inter"/>
                <a:sym typeface="Inter"/>
              </a:rPr>
              <a:t>Ansible automatise la configuration des machines virtuelles créées par Terraform. Sans agents supplémentaires, Ansible se connecte via SSH et exécute un playbook qui installe Docker, déploie K3s, et configure le cluster Kubernetes. Maître et worker sont configurés automatiquement et forment un cluster fonctionnel en quelques minutes.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EEEEF"/>
        </a:solidFill>
      </p:bgPr>
    </p:bg>
    <p:spTree>
      <p:nvGrpSpPr>
        <p:cNvPr id="1" name=""/>
        <p:cNvGrpSpPr/>
        <p:nvPr/>
      </p:nvGrpSpPr>
      <p:grpSpPr>
        <a:xfrm>
          <a:off x="0" y="0"/>
          <a:ext cx="0" cy="0"/>
          <a:chOff x="0" y="0"/>
          <a:chExt cx="0" cy="0"/>
        </a:xfrm>
      </p:grpSpPr>
      <p:grpSp>
        <p:nvGrpSpPr>
          <p:cNvPr name="Group 2" id="2"/>
          <p:cNvGrpSpPr/>
          <p:nvPr/>
        </p:nvGrpSpPr>
        <p:grpSpPr>
          <a:xfrm rot="5400000">
            <a:off x="15736621" y="803205"/>
            <a:ext cx="1857699" cy="1857699"/>
            <a:chOff x="0" y="0"/>
            <a:chExt cx="2476932" cy="2476932"/>
          </a:xfrm>
        </p:grpSpPr>
        <p:grpSp>
          <p:nvGrpSpPr>
            <p:cNvPr name="Group 3" id="3"/>
            <p:cNvGrpSpPr/>
            <p:nvPr/>
          </p:nvGrpSpPr>
          <p:grpSpPr>
            <a:xfrm rot="0">
              <a:off x="0" y="0"/>
              <a:ext cx="1238466" cy="1238466"/>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5" id="5"/>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6" id="6"/>
            <p:cNvGrpSpPr/>
            <p:nvPr/>
          </p:nvGrpSpPr>
          <p:grpSpPr>
            <a:xfrm rot="0">
              <a:off x="0" y="1238466"/>
              <a:ext cx="1238466" cy="123846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8" id="8"/>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9" id="9"/>
            <p:cNvGrpSpPr/>
            <p:nvPr/>
          </p:nvGrpSpPr>
          <p:grpSpPr>
            <a:xfrm rot="0">
              <a:off x="1238466" y="0"/>
              <a:ext cx="1238466" cy="123846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11" id="11"/>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grpSp>
        <p:nvGrpSpPr>
          <p:cNvPr name="Group 12" id="12"/>
          <p:cNvGrpSpPr/>
          <p:nvPr/>
        </p:nvGrpSpPr>
        <p:grpSpPr>
          <a:xfrm rot="-5400000">
            <a:off x="0" y="8429301"/>
            <a:ext cx="1857699" cy="1857699"/>
            <a:chOff x="0" y="0"/>
            <a:chExt cx="2476932" cy="2476932"/>
          </a:xfrm>
        </p:grpSpPr>
        <p:grpSp>
          <p:nvGrpSpPr>
            <p:cNvPr name="Group 13" id="13"/>
            <p:cNvGrpSpPr/>
            <p:nvPr/>
          </p:nvGrpSpPr>
          <p:grpSpPr>
            <a:xfrm rot="0">
              <a:off x="0" y="0"/>
              <a:ext cx="1238466" cy="123846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15" id="15"/>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16" id="16"/>
            <p:cNvGrpSpPr/>
            <p:nvPr/>
          </p:nvGrpSpPr>
          <p:grpSpPr>
            <a:xfrm rot="0">
              <a:off x="0" y="1238466"/>
              <a:ext cx="1238466" cy="123846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18" id="18"/>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19" id="19"/>
            <p:cNvGrpSpPr/>
            <p:nvPr/>
          </p:nvGrpSpPr>
          <p:grpSpPr>
            <a:xfrm rot="0">
              <a:off x="1238466" y="0"/>
              <a:ext cx="1238466" cy="123846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21" id="21"/>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grpSp>
        <p:nvGrpSpPr>
          <p:cNvPr name="Group 22" id="22"/>
          <p:cNvGrpSpPr/>
          <p:nvPr/>
        </p:nvGrpSpPr>
        <p:grpSpPr>
          <a:xfrm rot="0">
            <a:off x="7033360" y="2911129"/>
            <a:ext cx="1196036" cy="1196036"/>
            <a:chOff x="0" y="0"/>
            <a:chExt cx="1594714" cy="1594714"/>
          </a:xfrm>
        </p:grpSpPr>
        <p:grpSp>
          <p:nvGrpSpPr>
            <p:cNvPr name="Group 23" id="23"/>
            <p:cNvGrpSpPr/>
            <p:nvPr/>
          </p:nvGrpSpPr>
          <p:grpSpPr>
            <a:xfrm rot="0">
              <a:off x="0" y="0"/>
              <a:ext cx="797357" cy="797357"/>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25" id="25"/>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26" id="26"/>
            <p:cNvGrpSpPr/>
            <p:nvPr/>
          </p:nvGrpSpPr>
          <p:grpSpPr>
            <a:xfrm rot="0">
              <a:off x="0" y="797357"/>
              <a:ext cx="797357" cy="797357"/>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28" id="28"/>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29" id="29"/>
            <p:cNvGrpSpPr/>
            <p:nvPr/>
          </p:nvGrpSpPr>
          <p:grpSpPr>
            <a:xfrm rot="0">
              <a:off x="797357" y="0"/>
              <a:ext cx="797357" cy="797357"/>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31" id="31"/>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grpSp>
        <p:nvGrpSpPr>
          <p:cNvPr name="Group 32" id="32"/>
          <p:cNvGrpSpPr/>
          <p:nvPr/>
        </p:nvGrpSpPr>
        <p:grpSpPr>
          <a:xfrm rot="5400000">
            <a:off x="1133475" y="1333631"/>
            <a:ext cx="928850" cy="928850"/>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34" id="34"/>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grpSp>
        <p:nvGrpSpPr>
          <p:cNvPr name="Group 35" id="35"/>
          <p:cNvGrpSpPr/>
          <p:nvPr/>
        </p:nvGrpSpPr>
        <p:grpSpPr>
          <a:xfrm rot="5400000">
            <a:off x="15164469" y="8429301"/>
            <a:ext cx="928850" cy="928850"/>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37" id="37"/>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sp>
        <p:nvSpPr>
          <p:cNvPr name="Freeform 38" id="38"/>
          <p:cNvSpPr/>
          <p:nvPr/>
        </p:nvSpPr>
        <p:spPr>
          <a:xfrm flipH="false" flipV="false" rot="0">
            <a:off x="6504120" y="3436153"/>
            <a:ext cx="11524531" cy="1632401"/>
          </a:xfrm>
          <a:custGeom>
            <a:avLst/>
            <a:gdLst/>
            <a:ahLst/>
            <a:cxnLst/>
            <a:rect r="r" b="b" t="t" l="l"/>
            <a:pathLst>
              <a:path h="1632401" w="11524531">
                <a:moveTo>
                  <a:pt x="0" y="0"/>
                </a:moveTo>
                <a:lnTo>
                  <a:pt x="11524531" y="0"/>
                </a:lnTo>
                <a:lnTo>
                  <a:pt x="11524531" y="1632401"/>
                </a:lnTo>
                <a:lnTo>
                  <a:pt x="0" y="1632401"/>
                </a:lnTo>
                <a:lnTo>
                  <a:pt x="0" y="0"/>
                </a:lnTo>
                <a:close/>
              </a:path>
            </a:pathLst>
          </a:custGeom>
          <a:blipFill>
            <a:blip r:embed="rId2"/>
            <a:stretch>
              <a:fillRect l="0" t="0" r="-19280" b="0"/>
            </a:stretch>
          </a:blipFill>
        </p:spPr>
      </p:sp>
      <p:sp>
        <p:nvSpPr>
          <p:cNvPr name="TextBox 39" id="39"/>
          <p:cNvSpPr txBox="true"/>
          <p:nvPr/>
        </p:nvSpPr>
        <p:spPr>
          <a:xfrm rot="0">
            <a:off x="377600" y="9748607"/>
            <a:ext cx="4562061" cy="207645"/>
          </a:xfrm>
          <a:prstGeom prst="rect">
            <a:avLst/>
          </a:prstGeom>
        </p:spPr>
        <p:txBody>
          <a:bodyPr anchor="t" rtlCol="false" tIns="0" lIns="0" bIns="0" rIns="0">
            <a:spAutoFit/>
          </a:bodyPr>
          <a:lstStyle/>
          <a:p>
            <a:pPr algn="l">
              <a:lnSpc>
                <a:spcPts val="1679"/>
              </a:lnSpc>
            </a:pPr>
            <a:r>
              <a:rPr lang="en-US" sz="1199" b="true">
                <a:solidFill>
                  <a:srgbClr val="000000"/>
                </a:solidFill>
                <a:latin typeface="Inter Bold"/>
                <a:ea typeface="Inter Bold"/>
                <a:cs typeface="Inter Bold"/>
                <a:sym typeface="Inter Bold"/>
              </a:rPr>
              <a:t>www.reallygreatsite.com</a:t>
            </a:r>
          </a:p>
        </p:txBody>
      </p:sp>
      <p:grpSp>
        <p:nvGrpSpPr>
          <p:cNvPr name="Group 40" id="40"/>
          <p:cNvGrpSpPr/>
          <p:nvPr/>
        </p:nvGrpSpPr>
        <p:grpSpPr>
          <a:xfrm rot="0">
            <a:off x="377600" y="321611"/>
            <a:ext cx="2102569" cy="275311"/>
            <a:chOff x="0" y="0"/>
            <a:chExt cx="2803426" cy="367081"/>
          </a:xfrm>
        </p:grpSpPr>
        <p:sp>
          <p:nvSpPr>
            <p:cNvPr name="TextBox 41" id="41"/>
            <p:cNvSpPr txBox="true"/>
            <p:nvPr/>
          </p:nvSpPr>
          <p:spPr>
            <a:xfrm rot="0">
              <a:off x="0" y="19050"/>
              <a:ext cx="1508522" cy="341630"/>
            </a:xfrm>
            <a:prstGeom prst="rect">
              <a:avLst/>
            </a:prstGeom>
          </p:spPr>
          <p:txBody>
            <a:bodyPr anchor="t" rtlCol="false" tIns="0" lIns="0" bIns="0" rIns="0">
              <a:spAutoFit/>
            </a:bodyPr>
            <a:lstStyle/>
            <a:p>
              <a:pPr algn="ctr">
                <a:lnSpc>
                  <a:spcPts val="1979"/>
                </a:lnSpc>
                <a:spcBef>
                  <a:spcPct val="0"/>
                </a:spcBef>
              </a:pPr>
              <a:r>
                <a:rPr lang="en-US" b="true" sz="1799">
                  <a:solidFill>
                    <a:srgbClr val="000000"/>
                  </a:solidFill>
                  <a:latin typeface="Libre Baskerville Bold"/>
                  <a:ea typeface="Libre Baskerville Bold"/>
                  <a:cs typeface="Libre Baskerville Bold"/>
                  <a:sym typeface="Libre Baskerville Bold"/>
                </a:rPr>
                <a:t>Arowwai </a:t>
              </a:r>
            </a:p>
          </p:txBody>
        </p:sp>
        <p:sp>
          <p:nvSpPr>
            <p:cNvPr name="TextBox 42" id="42"/>
            <p:cNvSpPr txBox="true"/>
            <p:nvPr/>
          </p:nvSpPr>
          <p:spPr>
            <a:xfrm rot="0">
              <a:off x="1521222" y="89374"/>
              <a:ext cx="1282204" cy="277707"/>
            </a:xfrm>
            <a:prstGeom prst="rect">
              <a:avLst/>
            </a:prstGeom>
          </p:spPr>
          <p:txBody>
            <a:bodyPr anchor="t" rtlCol="false" tIns="0" lIns="0" bIns="0" rIns="0">
              <a:spAutoFit/>
            </a:bodyPr>
            <a:lstStyle/>
            <a:p>
              <a:pPr algn="ctr">
                <a:lnSpc>
                  <a:spcPts val="1540"/>
                </a:lnSpc>
                <a:spcBef>
                  <a:spcPct val="0"/>
                </a:spcBef>
              </a:pPr>
              <a:r>
                <a:rPr lang="en-US" sz="1400">
                  <a:solidFill>
                    <a:srgbClr val="929292"/>
                  </a:solidFill>
                  <a:latin typeface="Lovelo"/>
                  <a:ea typeface="Lovelo"/>
                  <a:cs typeface="Lovelo"/>
                  <a:sym typeface="Lovelo"/>
                </a:rPr>
                <a:t>Industries</a:t>
              </a:r>
            </a:p>
          </p:txBody>
        </p:sp>
      </p:grpSp>
      <p:sp>
        <p:nvSpPr>
          <p:cNvPr name="TextBox 43" id="43"/>
          <p:cNvSpPr txBox="true"/>
          <p:nvPr/>
        </p:nvSpPr>
        <p:spPr>
          <a:xfrm rot="0">
            <a:off x="535457" y="3043530"/>
            <a:ext cx="7095921" cy="1406525"/>
          </a:xfrm>
          <a:prstGeom prst="rect">
            <a:avLst/>
          </a:prstGeom>
        </p:spPr>
        <p:txBody>
          <a:bodyPr anchor="t" rtlCol="false" tIns="0" lIns="0" bIns="0" rIns="0">
            <a:spAutoFit/>
          </a:bodyPr>
          <a:lstStyle/>
          <a:p>
            <a:pPr algn="l" marL="0" indent="0" lvl="0">
              <a:lnSpc>
                <a:spcPts val="5500"/>
              </a:lnSpc>
              <a:spcBef>
                <a:spcPct val="0"/>
              </a:spcBef>
            </a:pPr>
            <a:r>
              <a:rPr lang="en-US" b="true" sz="5000" spc="-50">
                <a:solidFill>
                  <a:srgbClr val="000000"/>
                </a:solidFill>
                <a:latin typeface="Libre Baskerville Bold"/>
                <a:ea typeface="Libre Baskerville Bold"/>
                <a:cs typeface="Libre Baskerville Bold"/>
                <a:sym typeface="Libre Baskerville Bold"/>
              </a:rPr>
              <a:t>Orchestration Kubernetes</a:t>
            </a:r>
          </a:p>
        </p:txBody>
      </p:sp>
      <p:sp>
        <p:nvSpPr>
          <p:cNvPr name="TextBox 44" id="44"/>
          <p:cNvSpPr txBox="true"/>
          <p:nvPr/>
        </p:nvSpPr>
        <p:spPr>
          <a:xfrm rot="0">
            <a:off x="582226" y="4584265"/>
            <a:ext cx="5605964" cy="2506979"/>
          </a:xfrm>
          <a:prstGeom prst="rect">
            <a:avLst/>
          </a:prstGeom>
        </p:spPr>
        <p:txBody>
          <a:bodyPr anchor="t" rtlCol="false" tIns="0" lIns="0" bIns="0" rIns="0">
            <a:spAutoFit/>
          </a:bodyPr>
          <a:lstStyle/>
          <a:p>
            <a:pPr algn="l" marL="0" indent="0" lvl="0">
              <a:lnSpc>
                <a:spcPts val="2520"/>
              </a:lnSpc>
              <a:spcBef>
                <a:spcPct val="0"/>
              </a:spcBef>
            </a:pPr>
            <a:r>
              <a:rPr lang="en-US" sz="1800" spc="-36">
                <a:solidFill>
                  <a:srgbClr val="000000"/>
                </a:solidFill>
                <a:latin typeface="Inter"/>
                <a:ea typeface="Inter"/>
                <a:cs typeface="Inter"/>
                <a:sym typeface="Inter"/>
              </a:rPr>
              <a:t>Kubernetes automatise le déploiement, la mise à l'échelle et la gestion des conteneurs Docker. Plutôt que de gérer manuellement chaque pod sur chaque VM, Kubernetes orchestre tout—réplication automatique, répartition de charge, auto-cicatrisation. K3s, sa version allégée, est parfait pour notre cas d'usage : production-ready mais léger, idéal pour démonstration et déploiement edge.</a:t>
            </a:r>
          </a:p>
        </p:txBody>
      </p:sp>
      <p:sp>
        <p:nvSpPr>
          <p:cNvPr name="TextBox 45" id="45"/>
          <p:cNvSpPr txBox="true"/>
          <p:nvPr/>
        </p:nvSpPr>
        <p:spPr>
          <a:xfrm rot="0">
            <a:off x="6504120" y="7801385"/>
            <a:ext cx="9664831" cy="955254"/>
          </a:xfrm>
          <a:prstGeom prst="rect">
            <a:avLst/>
          </a:prstGeom>
        </p:spPr>
        <p:txBody>
          <a:bodyPr anchor="t" rtlCol="false" tIns="0" lIns="0" bIns="0" rIns="0">
            <a:spAutoFit/>
          </a:bodyPr>
          <a:lstStyle/>
          <a:p>
            <a:pPr algn="l">
              <a:lnSpc>
                <a:spcPts val="1888"/>
              </a:lnSpc>
              <a:spcBef>
                <a:spcPct val="0"/>
              </a:spcBef>
            </a:pPr>
            <a:r>
              <a:rPr lang="en-US" b="true" sz="1716">
                <a:solidFill>
                  <a:srgbClr val="000000"/>
                </a:solidFill>
                <a:latin typeface="Inter Bold"/>
                <a:ea typeface="Inter Bold"/>
                <a:cs typeface="Inter Bold"/>
                <a:sym typeface="Inter Bold"/>
              </a:rPr>
              <a:t>Terraform et Ansible répondent à la question : "Comment provisionner et configurer l’infrastructure ?"</a:t>
            </a:r>
          </a:p>
          <a:p>
            <a:pPr algn="l">
              <a:lnSpc>
                <a:spcPts val="1888"/>
              </a:lnSpc>
              <a:spcBef>
                <a:spcPct val="0"/>
              </a:spcBef>
            </a:pPr>
            <a:r>
              <a:rPr lang="en-US" b="true" sz="1716">
                <a:solidFill>
                  <a:srgbClr val="000000"/>
                </a:solidFill>
                <a:latin typeface="Inter Bold"/>
                <a:ea typeface="Inter Bold"/>
                <a:cs typeface="Inter Bold"/>
                <a:sym typeface="Inter Bold"/>
              </a:rPr>
              <a:t> Kubernetes répond à une question plus importante : "Comment exécuter et gérer des applications à grande échelle avec zéro temps d’arrêt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EEEEF"/>
        </a:solidFill>
      </p:bgPr>
    </p:bg>
    <p:spTree>
      <p:nvGrpSpPr>
        <p:cNvPr id="1" name=""/>
        <p:cNvGrpSpPr/>
        <p:nvPr/>
      </p:nvGrpSpPr>
      <p:grpSpPr>
        <a:xfrm>
          <a:off x="0" y="0"/>
          <a:ext cx="0" cy="0"/>
          <a:chOff x="0" y="0"/>
          <a:chExt cx="0" cy="0"/>
        </a:xfrm>
      </p:grpSpPr>
      <p:grpSp>
        <p:nvGrpSpPr>
          <p:cNvPr name="Group 2" id="2"/>
          <p:cNvGrpSpPr/>
          <p:nvPr/>
        </p:nvGrpSpPr>
        <p:grpSpPr>
          <a:xfrm rot="5400000">
            <a:off x="15736621" y="803205"/>
            <a:ext cx="1857699" cy="1857699"/>
            <a:chOff x="0" y="0"/>
            <a:chExt cx="2476932" cy="2476932"/>
          </a:xfrm>
        </p:grpSpPr>
        <p:grpSp>
          <p:nvGrpSpPr>
            <p:cNvPr name="Group 3" id="3"/>
            <p:cNvGrpSpPr/>
            <p:nvPr/>
          </p:nvGrpSpPr>
          <p:grpSpPr>
            <a:xfrm rot="0">
              <a:off x="0" y="0"/>
              <a:ext cx="1238466" cy="1238466"/>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5" id="5"/>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6" id="6"/>
            <p:cNvGrpSpPr/>
            <p:nvPr/>
          </p:nvGrpSpPr>
          <p:grpSpPr>
            <a:xfrm rot="0">
              <a:off x="0" y="1238466"/>
              <a:ext cx="1238466" cy="123846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8" id="8"/>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9" id="9"/>
            <p:cNvGrpSpPr/>
            <p:nvPr/>
          </p:nvGrpSpPr>
          <p:grpSpPr>
            <a:xfrm rot="0">
              <a:off x="1238466" y="0"/>
              <a:ext cx="1238466" cy="123846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11" id="11"/>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grpSp>
        <p:nvGrpSpPr>
          <p:cNvPr name="Group 12" id="12"/>
          <p:cNvGrpSpPr/>
          <p:nvPr/>
        </p:nvGrpSpPr>
        <p:grpSpPr>
          <a:xfrm rot="-5400000">
            <a:off x="0" y="8429301"/>
            <a:ext cx="1857699" cy="1857699"/>
            <a:chOff x="0" y="0"/>
            <a:chExt cx="2476932" cy="2476932"/>
          </a:xfrm>
        </p:grpSpPr>
        <p:grpSp>
          <p:nvGrpSpPr>
            <p:cNvPr name="Group 13" id="13"/>
            <p:cNvGrpSpPr/>
            <p:nvPr/>
          </p:nvGrpSpPr>
          <p:grpSpPr>
            <a:xfrm rot="0">
              <a:off x="0" y="0"/>
              <a:ext cx="1238466" cy="123846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15" id="15"/>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16" id="16"/>
            <p:cNvGrpSpPr/>
            <p:nvPr/>
          </p:nvGrpSpPr>
          <p:grpSpPr>
            <a:xfrm rot="0">
              <a:off x="0" y="1238466"/>
              <a:ext cx="1238466" cy="123846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18" id="18"/>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19" id="19"/>
            <p:cNvGrpSpPr/>
            <p:nvPr/>
          </p:nvGrpSpPr>
          <p:grpSpPr>
            <a:xfrm rot="0">
              <a:off x="1238466" y="0"/>
              <a:ext cx="1238466" cy="123846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21" id="21"/>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grpSp>
        <p:nvGrpSpPr>
          <p:cNvPr name="Group 22" id="22"/>
          <p:cNvGrpSpPr/>
          <p:nvPr/>
        </p:nvGrpSpPr>
        <p:grpSpPr>
          <a:xfrm rot="0">
            <a:off x="7033360" y="2911129"/>
            <a:ext cx="1196036" cy="1196036"/>
            <a:chOff x="0" y="0"/>
            <a:chExt cx="1594714" cy="1594714"/>
          </a:xfrm>
        </p:grpSpPr>
        <p:grpSp>
          <p:nvGrpSpPr>
            <p:cNvPr name="Group 23" id="23"/>
            <p:cNvGrpSpPr/>
            <p:nvPr/>
          </p:nvGrpSpPr>
          <p:grpSpPr>
            <a:xfrm rot="0">
              <a:off x="0" y="0"/>
              <a:ext cx="797357" cy="797357"/>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25" id="25"/>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26" id="26"/>
            <p:cNvGrpSpPr/>
            <p:nvPr/>
          </p:nvGrpSpPr>
          <p:grpSpPr>
            <a:xfrm rot="0">
              <a:off x="0" y="797357"/>
              <a:ext cx="797357" cy="797357"/>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28" id="28"/>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29" id="29"/>
            <p:cNvGrpSpPr/>
            <p:nvPr/>
          </p:nvGrpSpPr>
          <p:grpSpPr>
            <a:xfrm rot="0">
              <a:off x="797357" y="0"/>
              <a:ext cx="797357" cy="797357"/>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31" id="31"/>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grpSp>
        <p:nvGrpSpPr>
          <p:cNvPr name="Group 32" id="32"/>
          <p:cNvGrpSpPr/>
          <p:nvPr/>
        </p:nvGrpSpPr>
        <p:grpSpPr>
          <a:xfrm rot="5400000">
            <a:off x="1133475" y="1333631"/>
            <a:ext cx="928850" cy="928850"/>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34" id="34"/>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grpSp>
        <p:nvGrpSpPr>
          <p:cNvPr name="Group 35" id="35"/>
          <p:cNvGrpSpPr/>
          <p:nvPr/>
        </p:nvGrpSpPr>
        <p:grpSpPr>
          <a:xfrm rot="5400000">
            <a:off x="15164469" y="8429301"/>
            <a:ext cx="928850" cy="928850"/>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37" id="37"/>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sp>
        <p:nvSpPr>
          <p:cNvPr name="Freeform 38" id="38"/>
          <p:cNvSpPr/>
          <p:nvPr/>
        </p:nvSpPr>
        <p:spPr>
          <a:xfrm flipH="false" flipV="false" rot="0">
            <a:off x="8856195" y="3133515"/>
            <a:ext cx="8738125" cy="5161651"/>
          </a:xfrm>
          <a:custGeom>
            <a:avLst/>
            <a:gdLst/>
            <a:ahLst/>
            <a:cxnLst/>
            <a:rect r="r" b="b" t="t" l="l"/>
            <a:pathLst>
              <a:path h="5161651" w="8738125">
                <a:moveTo>
                  <a:pt x="0" y="0"/>
                </a:moveTo>
                <a:lnTo>
                  <a:pt x="8738125" y="0"/>
                </a:lnTo>
                <a:lnTo>
                  <a:pt x="8738125" y="5161651"/>
                </a:lnTo>
                <a:lnTo>
                  <a:pt x="0" y="5161651"/>
                </a:lnTo>
                <a:lnTo>
                  <a:pt x="0" y="0"/>
                </a:lnTo>
                <a:close/>
              </a:path>
            </a:pathLst>
          </a:custGeom>
          <a:blipFill>
            <a:blip r:embed="rId2"/>
            <a:stretch>
              <a:fillRect l="0" t="0" r="0" b="0"/>
            </a:stretch>
          </a:blipFill>
        </p:spPr>
      </p:sp>
      <p:sp>
        <p:nvSpPr>
          <p:cNvPr name="TextBox 39" id="39"/>
          <p:cNvSpPr txBox="true"/>
          <p:nvPr/>
        </p:nvSpPr>
        <p:spPr>
          <a:xfrm rot="0">
            <a:off x="1133475" y="3058193"/>
            <a:ext cx="5654110" cy="1406525"/>
          </a:xfrm>
          <a:prstGeom prst="rect">
            <a:avLst/>
          </a:prstGeom>
        </p:spPr>
        <p:txBody>
          <a:bodyPr anchor="t" rtlCol="false" tIns="0" lIns="0" bIns="0" rIns="0">
            <a:spAutoFit/>
          </a:bodyPr>
          <a:lstStyle/>
          <a:p>
            <a:pPr algn="l" marL="0" indent="0" lvl="0">
              <a:lnSpc>
                <a:spcPts val="5500"/>
              </a:lnSpc>
              <a:spcBef>
                <a:spcPct val="0"/>
              </a:spcBef>
            </a:pPr>
            <a:r>
              <a:rPr lang="en-US" b="true" sz="5000" spc="-50">
                <a:solidFill>
                  <a:srgbClr val="000000"/>
                </a:solidFill>
                <a:latin typeface="Libre Baskerville Bold"/>
                <a:ea typeface="Libre Baskerville Bold"/>
                <a:cs typeface="Libre Baskerville Bold"/>
                <a:sym typeface="Libre Baskerville Bold"/>
              </a:rPr>
              <a:t>containerisation (DOCkER)</a:t>
            </a:r>
          </a:p>
        </p:txBody>
      </p:sp>
      <p:sp>
        <p:nvSpPr>
          <p:cNvPr name="TextBox 40" id="40"/>
          <p:cNvSpPr txBox="true"/>
          <p:nvPr/>
        </p:nvSpPr>
        <p:spPr>
          <a:xfrm rot="0">
            <a:off x="1133475" y="4580859"/>
            <a:ext cx="7722720" cy="3135629"/>
          </a:xfrm>
          <a:prstGeom prst="rect">
            <a:avLst/>
          </a:prstGeom>
        </p:spPr>
        <p:txBody>
          <a:bodyPr anchor="t" rtlCol="false" tIns="0" lIns="0" bIns="0" rIns="0">
            <a:spAutoFit/>
          </a:bodyPr>
          <a:lstStyle/>
          <a:p>
            <a:pPr algn="l">
              <a:lnSpc>
                <a:spcPts val="2520"/>
              </a:lnSpc>
            </a:pPr>
            <a:r>
              <a:rPr lang="en-US" sz="1800" spc="-36">
                <a:solidFill>
                  <a:srgbClr val="000000"/>
                </a:solidFill>
                <a:latin typeface="Inter"/>
                <a:ea typeface="Inter"/>
                <a:cs typeface="Inter"/>
                <a:sym typeface="Inter"/>
              </a:rPr>
              <a:t>Docker représente la couche applicative de notre architecture. Chaque conteneur est léger, isolé et reproductible grâce à une image Docker immutable créée à partir du Dockerfile de notre application Flask. Dans l’architecture, Ansible installe Docker, Kubernetes orchestre les conteneurs. Cela permet à l’application Flask d’être scalable, portable et isolée.</a:t>
            </a:r>
          </a:p>
          <a:p>
            <a:pPr algn="l" marL="0" indent="0" lvl="0">
              <a:lnSpc>
                <a:spcPts val="2520"/>
              </a:lnSpc>
              <a:spcBef>
                <a:spcPct val="0"/>
              </a:spcBef>
            </a:pPr>
          </a:p>
          <a:p>
            <a:pPr algn="l" marL="0" indent="0" lvl="0">
              <a:lnSpc>
                <a:spcPts val="2520"/>
              </a:lnSpc>
              <a:spcBef>
                <a:spcPct val="0"/>
              </a:spcBef>
            </a:pPr>
          </a:p>
          <a:p>
            <a:pPr algn="l" marL="0" indent="0" lvl="0">
              <a:lnSpc>
                <a:spcPts val="2520"/>
              </a:lnSpc>
              <a:spcBef>
                <a:spcPct val="0"/>
              </a:spcBef>
            </a:pPr>
          </a:p>
          <a:p>
            <a:pPr algn="l" marL="0" indent="0" lvl="0">
              <a:lnSpc>
                <a:spcPts val="2520"/>
              </a:lnSpc>
              <a:spcBef>
                <a:spcPct val="0"/>
              </a:spcBef>
            </a:pPr>
          </a:p>
        </p:txBody>
      </p:sp>
      <p:sp>
        <p:nvSpPr>
          <p:cNvPr name="TextBox 41" id="41"/>
          <p:cNvSpPr txBox="true"/>
          <p:nvPr/>
        </p:nvSpPr>
        <p:spPr>
          <a:xfrm rot="0">
            <a:off x="377600" y="9748607"/>
            <a:ext cx="4562061" cy="207645"/>
          </a:xfrm>
          <a:prstGeom prst="rect">
            <a:avLst/>
          </a:prstGeom>
        </p:spPr>
        <p:txBody>
          <a:bodyPr anchor="t" rtlCol="false" tIns="0" lIns="0" bIns="0" rIns="0">
            <a:spAutoFit/>
          </a:bodyPr>
          <a:lstStyle/>
          <a:p>
            <a:pPr algn="l">
              <a:lnSpc>
                <a:spcPts val="1679"/>
              </a:lnSpc>
            </a:pPr>
            <a:r>
              <a:rPr lang="en-US" sz="1199" b="true">
                <a:solidFill>
                  <a:srgbClr val="000000"/>
                </a:solidFill>
                <a:latin typeface="Inter Bold"/>
                <a:ea typeface="Inter Bold"/>
                <a:cs typeface="Inter Bold"/>
                <a:sym typeface="Inter Bold"/>
              </a:rPr>
              <a:t>www.reallygreatsite.com</a:t>
            </a:r>
          </a:p>
        </p:txBody>
      </p:sp>
      <p:grpSp>
        <p:nvGrpSpPr>
          <p:cNvPr name="Group 42" id="42"/>
          <p:cNvGrpSpPr/>
          <p:nvPr/>
        </p:nvGrpSpPr>
        <p:grpSpPr>
          <a:xfrm rot="0">
            <a:off x="377600" y="321611"/>
            <a:ext cx="2102569" cy="275311"/>
            <a:chOff x="0" y="0"/>
            <a:chExt cx="2803426" cy="367081"/>
          </a:xfrm>
        </p:grpSpPr>
        <p:sp>
          <p:nvSpPr>
            <p:cNvPr name="TextBox 43" id="43"/>
            <p:cNvSpPr txBox="true"/>
            <p:nvPr/>
          </p:nvSpPr>
          <p:spPr>
            <a:xfrm rot="0">
              <a:off x="0" y="19050"/>
              <a:ext cx="1508522" cy="341630"/>
            </a:xfrm>
            <a:prstGeom prst="rect">
              <a:avLst/>
            </a:prstGeom>
          </p:spPr>
          <p:txBody>
            <a:bodyPr anchor="t" rtlCol="false" tIns="0" lIns="0" bIns="0" rIns="0">
              <a:spAutoFit/>
            </a:bodyPr>
            <a:lstStyle/>
            <a:p>
              <a:pPr algn="ctr">
                <a:lnSpc>
                  <a:spcPts val="1979"/>
                </a:lnSpc>
                <a:spcBef>
                  <a:spcPct val="0"/>
                </a:spcBef>
              </a:pPr>
              <a:r>
                <a:rPr lang="en-US" b="true" sz="1799">
                  <a:solidFill>
                    <a:srgbClr val="000000"/>
                  </a:solidFill>
                  <a:latin typeface="Libre Baskerville Bold"/>
                  <a:ea typeface="Libre Baskerville Bold"/>
                  <a:cs typeface="Libre Baskerville Bold"/>
                  <a:sym typeface="Libre Baskerville Bold"/>
                </a:rPr>
                <a:t>Arowwai </a:t>
              </a:r>
            </a:p>
          </p:txBody>
        </p:sp>
        <p:sp>
          <p:nvSpPr>
            <p:cNvPr name="TextBox 44" id="44"/>
            <p:cNvSpPr txBox="true"/>
            <p:nvPr/>
          </p:nvSpPr>
          <p:spPr>
            <a:xfrm rot="0">
              <a:off x="1521222" y="89374"/>
              <a:ext cx="1282204" cy="277707"/>
            </a:xfrm>
            <a:prstGeom prst="rect">
              <a:avLst/>
            </a:prstGeom>
          </p:spPr>
          <p:txBody>
            <a:bodyPr anchor="t" rtlCol="false" tIns="0" lIns="0" bIns="0" rIns="0">
              <a:spAutoFit/>
            </a:bodyPr>
            <a:lstStyle/>
            <a:p>
              <a:pPr algn="ctr">
                <a:lnSpc>
                  <a:spcPts val="1540"/>
                </a:lnSpc>
                <a:spcBef>
                  <a:spcPct val="0"/>
                </a:spcBef>
              </a:pPr>
              <a:r>
                <a:rPr lang="en-US" sz="1400">
                  <a:solidFill>
                    <a:srgbClr val="929292"/>
                  </a:solidFill>
                  <a:latin typeface="Lovelo"/>
                  <a:ea typeface="Lovelo"/>
                  <a:cs typeface="Lovelo"/>
                  <a:sym typeface="Lovelo"/>
                </a:rPr>
                <a:t>Industries</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EEEEF"/>
        </a:solidFill>
      </p:bgPr>
    </p:bg>
    <p:spTree>
      <p:nvGrpSpPr>
        <p:cNvPr id="1" name=""/>
        <p:cNvGrpSpPr/>
        <p:nvPr/>
      </p:nvGrpSpPr>
      <p:grpSpPr>
        <a:xfrm>
          <a:off x="0" y="0"/>
          <a:ext cx="0" cy="0"/>
          <a:chOff x="0" y="0"/>
          <a:chExt cx="0" cy="0"/>
        </a:xfrm>
      </p:grpSpPr>
      <p:grpSp>
        <p:nvGrpSpPr>
          <p:cNvPr name="Group 2" id="2"/>
          <p:cNvGrpSpPr/>
          <p:nvPr/>
        </p:nvGrpSpPr>
        <p:grpSpPr>
          <a:xfrm rot="5400000">
            <a:off x="15736621" y="803205"/>
            <a:ext cx="1857699" cy="1857699"/>
            <a:chOff x="0" y="0"/>
            <a:chExt cx="2476932" cy="2476932"/>
          </a:xfrm>
        </p:grpSpPr>
        <p:grpSp>
          <p:nvGrpSpPr>
            <p:cNvPr name="Group 3" id="3"/>
            <p:cNvGrpSpPr/>
            <p:nvPr/>
          </p:nvGrpSpPr>
          <p:grpSpPr>
            <a:xfrm rot="0">
              <a:off x="0" y="0"/>
              <a:ext cx="1238466" cy="1238466"/>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5" id="5"/>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6" id="6"/>
            <p:cNvGrpSpPr/>
            <p:nvPr/>
          </p:nvGrpSpPr>
          <p:grpSpPr>
            <a:xfrm rot="0">
              <a:off x="0" y="1238466"/>
              <a:ext cx="1238466" cy="123846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8" id="8"/>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9" id="9"/>
            <p:cNvGrpSpPr/>
            <p:nvPr/>
          </p:nvGrpSpPr>
          <p:grpSpPr>
            <a:xfrm rot="0">
              <a:off x="1238466" y="0"/>
              <a:ext cx="1238466" cy="123846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11" id="11"/>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grpSp>
        <p:nvGrpSpPr>
          <p:cNvPr name="Group 12" id="12"/>
          <p:cNvGrpSpPr/>
          <p:nvPr/>
        </p:nvGrpSpPr>
        <p:grpSpPr>
          <a:xfrm rot="-5400000">
            <a:off x="0" y="8429301"/>
            <a:ext cx="1857699" cy="1857699"/>
            <a:chOff x="0" y="0"/>
            <a:chExt cx="2476932" cy="2476932"/>
          </a:xfrm>
        </p:grpSpPr>
        <p:grpSp>
          <p:nvGrpSpPr>
            <p:cNvPr name="Group 13" id="13"/>
            <p:cNvGrpSpPr/>
            <p:nvPr/>
          </p:nvGrpSpPr>
          <p:grpSpPr>
            <a:xfrm rot="0">
              <a:off x="0" y="0"/>
              <a:ext cx="1238466" cy="123846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15" id="15"/>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16" id="16"/>
            <p:cNvGrpSpPr/>
            <p:nvPr/>
          </p:nvGrpSpPr>
          <p:grpSpPr>
            <a:xfrm rot="0">
              <a:off x="0" y="1238466"/>
              <a:ext cx="1238466" cy="123846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18" id="18"/>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19" id="19"/>
            <p:cNvGrpSpPr/>
            <p:nvPr/>
          </p:nvGrpSpPr>
          <p:grpSpPr>
            <a:xfrm rot="0">
              <a:off x="1238466" y="0"/>
              <a:ext cx="1238466" cy="123846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21" id="21"/>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grpSp>
        <p:nvGrpSpPr>
          <p:cNvPr name="Group 22" id="22"/>
          <p:cNvGrpSpPr/>
          <p:nvPr/>
        </p:nvGrpSpPr>
        <p:grpSpPr>
          <a:xfrm rot="0">
            <a:off x="7033360" y="2911129"/>
            <a:ext cx="1196036" cy="1196036"/>
            <a:chOff x="0" y="0"/>
            <a:chExt cx="1594714" cy="1594714"/>
          </a:xfrm>
        </p:grpSpPr>
        <p:grpSp>
          <p:nvGrpSpPr>
            <p:cNvPr name="Group 23" id="23"/>
            <p:cNvGrpSpPr/>
            <p:nvPr/>
          </p:nvGrpSpPr>
          <p:grpSpPr>
            <a:xfrm rot="0">
              <a:off x="0" y="0"/>
              <a:ext cx="797357" cy="797357"/>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25" id="25"/>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26" id="26"/>
            <p:cNvGrpSpPr/>
            <p:nvPr/>
          </p:nvGrpSpPr>
          <p:grpSpPr>
            <a:xfrm rot="0">
              <a:off x="0" y="797357"/>
              <a:ext cx="797357" cy="797357"/>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28" id="28"/>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29" id="29"/>
            <p:cNvGrpSpPr/>
            <p:nvPr/>
          </p:nvGrpSpPr>
          <p:grpSpPr>
            <a:xfrm rot="0">
              <a:off x="797357" y="0"/>
              <a:ext cx="797357" cy="797357"/>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31" id="31"/>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grpSp>
        <p:nvGrpSpPr>
          <p:cNvPr name="Group 32" id="32"/>
          <p:cNvGrpSpPr/>
          <p:nvPr/>
        </p:nvGrpSpPr>
        <p:grpSpPr>
          <a:xfrm rot="5400000">
            <a:off x="1133475" y="1333631"/>
            <a:ext cx="928850" cy="928850"/>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34" id="34"/>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grpSp>
        <p:nvGrpSpPr>
          <p:cNvPr name="Group 35" id="35"/>
          <p:cNvGrpSpPr/>
          <p:nvPr/>
        </p:nvGrpSpPr>
        <p:grpSpPr>
          <a:xfrm rot="5400000">
            <a:off x="15164469" y="8429301"/>
            <a:ext cx="928850" cy="928850"/>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37" id="37"/>
            <p:cNvSpPr txBox="true"/>
            <p:nvPr/>
          </p:nvSpPr>
          <p:spPr>
            <a:xfrm>
              <a:off x="0" y="19050"/>
              <a:ext cx="812800" cy="793750"/>
            </a:xfrm>
            <a:prstGeom prst="rect">
              <a:avLst/>
            </a:prstGeom>
          </p:spPr>
          <p:txBody>
            <a:bodyPr anchor="ctr" rtlCol="false" tIns="82723" lIns="82723" bIns="82723" rIns="82723"/>
            <a:lstStyle/>
            <a:p>
              <a:pPr algn="ctr">
                <a:lnSpc>
                  <a:spcPts val="1979"/>
                </a:lnSpc>
              </a:pPr>
            </a:p>
          </p:txBody>
        </p:sp>
      </p:grpSp>
      <p:sp>
        <p:nvSpPr>
          <p:cNvPr name="Freeform 38" id="38"/>
          <p:cNvSpPr/>
          <p:nvPr/>
        </p:nvSpPr>
        <p:spPr>
          <a:xfrm flipH="false" flipV="false" rot="0">
            <a:off x="8111184" y="3147402"/>
            <a:ext cx="10176816" cy="4808641"/>
          </a:xfrm>
          <a:custGeom>
            <a:avLst/>
            <a:gdLst/>
            <a:ahLst/>
            <a:cxnLst/>
            <a:rect r="r" b="b" t="t" l="l"/>
            <a:pathLst>
              <a:path h="4808641" w="10176816">
                <a:moveTo>
                  <a:pt x="0" y="0"/>
                </a:moveTo>
                <a:lnTo>
                  <a:pt x="10176816" y="0"/>
                </a:lnTo>
                <a:lnTo>
                  <a:pt x="10176816" y="4808640"/>
                </a:lnTo>
                <a:lnTo>
                  <a:pt x="0" y="4808640"/>
                </a:lnTo>
                <a:lnTo>
                  <a:pt x="0" y="0"/>
                </a:lnTo>
                <a:close/>
              </a:path>
            </a:pathLst>
          </a:custGeom>
          <a:blipFill>
            <a:blip r:embed="rId2"/>
            <a:stretch>
              <a:fillRect l="0" t="0" r="-26002" b="0"/>
            </a:stretch>
          </a:blipFill>
        </p:spPr>
      </p:sp>
      <p:sp>
        <p:nvSpPr>
          <p:cNvPr name="TextBox 39" id="39"/>
          <p:cNvSpPr txBox="true"/>
          <p:nvPr/>
        </p:nvSpPr>
        <p:spPr>
          <a:xfrm rot="0">
            <a:off x="506676" y="3750173"/>
            <a:ext cx="5654110" cy="711200"/>
          </a:xfrm>
          <a:prstGeom prst="rect">
            <a:avLst/>
          </a:prstGeom>
        </p:spPr>
        <p:txBody>
          <a:bodyPr anchor="t" rtlCol="false" tIns="0" lIns="0" bIns="0" rIns="0">
            <a:spAutoFit/>
          </a:bodyPr>
          <a:lstStyle/>
          <a:p>
            <a:pPr algn="l" marL="0" indent="0" lvl="0">
              <a:lnSpc>
                <a:spcPts val="5500"/>
              </a:lnSpc>
              <a:spcBef>
                <a:spcPct val="0"/>
              </a:spcBef>
            </a:pPr>
            <a:r>
              <a:rPr lang="en-US" b="true" sz="5000" spc="-50">
                <a:solidFill>
                  <a:srgbClr val="000000"/>
                </a:solidFill>
                <a:latin typeface="Libre Baskerville Bold"/>
                <a:ea typeface="Libre Baskerville Bold"/>
                <a:cs typeface="Libre Baskerville Bold"/>
                <a:sym typeface="Libre Baskerville Bold"/>
              </a:rPr>
              <a:t>Pipeline CI/CD</a:t>
            </a:r>
          </a:p>
        </p:txBody>
      </p:sp>
      <p:sp>
        <p:nvSpPr>
          <p:cNvPr name="TextBox 40" id="40"/>
          <p:cNvSpPr txBox="true"/>
          <p:nvPr/>
        </p:nvSpPr>
        <p:spPr>
          <a:xfrm rot="0">
            <a:off x="506676" y="4577515"/>
            <a:ext cx="7722720" cy="3135629"/>
          </a:xfrm>
          <a:prstGeom prst="rect">
            <a:avLst/>
          </a:prstGeom>
        </p:spPr>
        <p:txBody>
          <a:bodyPr anchor="t" rtlCol="false" tIns="0" lIns="0" bIns="0" rIns="0">
            <a:spAutoFit/>
          </a:bodyPr>
          <a:lstStyle/>
          <a:p>
            <a:pPr algn="l">
              <a:lnSpc>
                <a:spcPts val="2520"/>
              </a:lnSpc>
            </a:pPr>
            <a:r>
              <a:rPr lang="en-US" sz="1800" spc="-36">
                <a:solidFill>
                  <a:srgbClr val="000000"/>
                </a:solidFill>
                <a:latin typeface="Inter"/>
                <a:ea typeface="Inter"/>
                <a:cs typeface="Inter"/>
                <a:sym typeface="Inter"/>
              </a:rPr>
              <a:t>Docker représente la couche applicative de notre architecture. Chaque conteneur est léger, isolé et reproductible grâce à une image Docker immutable créée à partir du Dockerfile de notre application Flask. Dans l’architecture, Ansible installe Docker, Kubernetes orchestre les conteneurs. Cela permet à l’application Flask d’être scalable, portable et isolée.</a:t>
            </a:r>
          </a:p>
          <a:p>
            <a:pPr algn="l" marL="0" indent="0" lvl="0">
              <a:lnSpc>
                <a:spcPts val="2520"/>
              </a:lnSpc>
              <a:spcBef>
                <a:spcPct val="0"/>
              </a:spcBef>
            </a:pPr>
          </a:p>
          <a:p>
            <a:pPr algn="l" marL="0" indent="0" lvl="0">
              <a:lnSpc>
                <a:spcPts val="2520"/>
              </a:lnSpc>
              <a:spcBef>
                <a:spcPct val="0"/>
              </a:spcBef>
            </a:pPr>
          </a:p>
          <a:p>
            <a:pPr algn="l" marL="0" indent="0" lvl="0">
              <a:lnSpc>
                <a:spcPts val="2520"/>
              </a:lnSpc>
              <a:spcBef>
                <a:spcPct val="0"/>
              </a:spcBef>
            </a:pPr>
          </a:p>
          <a:p>
            <a:pPr algn="l" marL="0" indent="0" lvl="0">
              <a:lnSpc>
                <a:spcPts val="2520"/>
              </a:lnSpc>
              <a:spcBef>
                <a:spcPct val="0"/>
              </a:spcBef>
            </a:pPr>
          </a:p>
        </p:txBody>
      </p:sp>
      <p:sp>
        <p:nvSpPr>
          <p:cNvPr name="TextBox 41" id="41"/>
          <p:cNvSpPr txBox="true"/>
          <p:nvPr/>
        </p:nvSpPr>
        <p:spPr>
          <a:xfrm rot="0">
            <a:off x="377600" y="9748607"/>
            <a:ext cx="4562061" cy="207645"/>
          </a:xfrm>
          <a:prstGeom prst="rect">
            <a:avLst/>
          </a:prstGeom>
        </p:spPr>
        <p:txBody>
          <a:bodyPr anchor="t" rtlCol="false" tIns="0" lIns="0" bIns="0" rIns="0">
            <a:spAutoFit/>
          </a:bodyPr>
          <a:lstStyle/>
          <a:p>
            <a:pPr algn="l">
              <a:lnSpc>
                <a:spcPts val="1679"/>
              </a:lnSpc>
            </a:pPr>
            <a:r>
              <a:rPr lang="en-US" sz="1199" b="true">
                <a:solidFill>
                  <a:srgbClr val="000000"/>
                </a:solidFill>
                <a:latin typeface="Inter Bold"/>
                <a:ea typeface="Inter Bold"/>
                <a:cs typeface="Inter Bold"/>
                <a:sym typeface="Inter Bold"/>
              </a:rPr>
              <a:t>www.reallygreatsite.com</a:t>
            </a:r>
          </a:p>
        </p:txBody>
      </p:sp>
      <p:grpSp>
        <p:nvGrpSpPr>
          <p:cNvPr name="Group 42" id="42"/>
          <p:cNvGrpSpPr/>
          <p:nvPr/>
        </p:nvGrpSpPr>
        <p:grpSpPr>
          <a:xfrm rot="0">
            <a:off x="377600" y="321611"/>
            <a:ext cx="2102569" cy="275311"/>
            <a:chOff x="0" y="0"/>
            <a:chExt cx="2803426" cy="367081"/>
          </a:xfrm>
        </p:grpSpPr>
        <p:sp>
          <p:nvSpPr>
            <p:cNvPr name="TextBox 43" id="43"/>
            <p:cNvSpPr txBox="true"/>
            <p:nvPr/>
          </p:nvSpPr>
          <p:spPr>
            <a:xfrm rot="0">
              <a:off x="0" y="19050"/>
              <a:ext cx="1508522" cy="341630"/>
            </a:xfrm>
            <a:prstGeom prst="rect">
              <a:avLst/>
            </a:prstGeom>
          </p:spPr>
          <p:txBody>
            <a:bodyPr anchor="t" rtlCol="false" tIns="0" lIns="0" bIns="0" rIns="0">
              <a:spAutoFit/>
            </a:bodyPr>
            <a:lstStyle/>
            <a:p>
              <a:pPr algn="ctr">
                <a:lnSpc>
                  <a:spcPts val="1979"/>
                </a:lnSpc>
                <a:spcBef>
                  <a:spcPct val="0"/>
                </a:spcBef>
              </a:pPr>
              <a:r>
                <a:rPr lang="en-US" b="true" sz="1799">
                  <a:solidFill>
                    <a:srgbClr val="000000"/>
                  </a:solidFill>
                  <a:latin typeface="Libre Baskerville Bold"/>
                  <a:ea typeface="Libre Baskerville Bold"/>
                  <a:cs typeface="Libre Baskerville Bold"/>
                  <a:sym typeface="Libre Baskerville Bold"/>
                </a:rPr>
                <a:t>Arowwai </a:t>
              </a:r>
            </a:p>
          </p:txBody>
        </p:sp>
        <p:sp>
          <p:nvSpPr>
            <p:cNvPr name="TextBox 44" id="44"/>
            <p:cNvSpPr txBox="true"/>
            <p:nvPr/>
          </p:nvSpPr>
          <p:spPr>
            <a:xfrm rot="0">
              <a:off x="1521222" y="89374"/>
              <a:ext cx="1282204" cy="277707"/>
            </a:xfrm>
            <a:prstGeom prst="rect">
              <a:avLst/>
            </a:prstGeom>
          </p:spPr>
          <p:txBody>
            <a:bodyPr anchor="t" rtlCol="false" tIns="0" lIns="0" bIns="0" rIns="0">
              <a:spAutoFit/>
            </a:bodyPr>
            <a:lstStyle/>
            <a:p>
              <a:pPr algn="ctr">
                <a:lnSpc>
                  <a:spcPts val="1540"/>
                </a:lnSpc>
                <a:spcBef>
                  <a:spcPct val="0"/>
                </a:spcBef>
              </a:pPr>
              <a:r>
                <a:rPr lang="en-US" sz="1400">
                  <a:solidFill>
                    <a:srgbClr val="929292"/>
                  </a:solidFill>
                  <a:latin typeface="Lovelo"/>
                  <a:ea typeface="Lovelo"/>
                  <a:cs typeface="Lovelo"/>
                  <a:sym typeface="Lovelo"/>
                </a:rPr>
                <a:t>Industries</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EEEEF"/>
        </a:solidFill>
      </p:bgPr>
    </p:bg>
    <p:spTree>
      <p:nvGrpSpPr>
        <p:cNvPr id="1" name=""/>
        <p:cNvGrpSpPr/>
        <p:nvPr/>
      </p:nvGrpSpPr>
      <p:grpSpPr>
        <a:xfrm>
          <a:off x="0" y="0"/>
          <a:ext cx="0" cy="0"/>
          <a:chOff x="0" y="0"/>
          <a:chExt cx="0" cy="0"/>
        </a:xfrm>
      </p:grpSpPr>
      <p:sp>
        <p:nvSpPr>
          <p:cNvPr name="TextBox 2" id="2"/>
          <p:cNvSpPr txBox="true"/>
          <p:nvPr/>
        </p:nvSpPr>
        <p:spPr>
          <a:xfrm rot="0">
            <a:off x="5143270" y="1364846"/>
            <a:ext cx="7757122" cy="711200"/>
          </a:xfrm>
          <a:prstGeom prst="rect">
            <a:avLst/>
          </a:prstGeom>
        </p:spPr>
        <p:txBody>
          <a:bodyPr anchor="t" rtlCol="false" tIns="0" lIns="0" bIns="0" rIns="0">
            <a:spAutoFit/>
          </a:bodyPr>
          <a:lstStyle/>
          <a:p>
            <a:pPr algn="ctr" marL="0" indent="0" lvl="0">
              <a:lnSpc>
                <a:spcPts val="5500"/>
              </a:lnSpc>
              <a:spcBef>
                <a:spcPct val="0"/>
              </a:spcBef>
            </a:pPr>
            <a:r>
              <a:rPr lang="en-US" b="true" sz="5000" spc="-50">
                <a:solidFill>
                  <a:srgbClr val="000000"/>
                </a:solidFill>
                <a:latin typeface="Libre Baskerville Bold"/>
                <a:ea typeface="Libre Baskerville Bold"/>
                <a:cs typeface="Libre Baskerville Bold"/>
                <a:sym typeface="Libre Baskerville Bold"/>
              </a:rPr>
              <a:t>Conclusion</a:t>
            </a:r>
          </a:p>
        </p:txBody>
      </p:sp>
      <p:grpSp>
        <p:nvGrpSpPr>
          <p:cNvPr name="Group 3" id="3"/>
          <p:cNvGrpSpPr/>
          <p:nvPr/>
        </p:nvGrpSpPr>
        <p:grpSpPr>
          <a:xfrm rot="-5400000">
            <a:off x="0" y="8429301"/>
            <a:ext cx="1857699" cy="1857699"/>
            <a:chOff x="0" y="0"/>
            <a:chExt cx="2476932" cy="2476932"/>
          </a:xfrm>
        </p:grpSpPr>
        <p:grpSp>
          <p:nvGrpSpPr>
            <p:cNvPr name="Group 4" id="4"/>
            <p:cNvGrpSpPr/>
            <p:nvPr/>
          </p:nvGrpSpPr>
          <p:grpSpPr>
            <a:xfrm rot="0">
              <a:off x="0" y="0"/>
              <a:ext cx="1238466" cy="1238466"/>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6" id="6"/>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7" id="7"/>
            <p:cNvGrpSpPr/>
            <p:nvPr/>
          </p:nvGrpSpPr>
          <p:grpSpPr>
            <a:xfrm rot="0">
              <a:off x="0" y="1238466"/>
              <a:ext cx="1238466" cy="1238466"/>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9" id="9"/>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10" id="10"/>
            <p:cNvGrpSpPr/>
            <p:nvPr/>
          </p:nvGrpSpPr>
          <p:grpSpPr>
            <a:xfrm rot="0">
              <a:off x="1238466" y="0"/>
              <a:ext cx="1238466" cy="123846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12" id="12"/>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grpSp>
        <p:nvGrpSpPr>
          <p:cNvPr name="Group 13" id="13"/>
          <p:cNvGrpSpPr/>
          <p:nvPr/>
        </p:nvGrpSpPr>
        <p:grpSpPr>
          <a:xfrm rot="5400000">
            <a:off x="11411802" y="1696633"/>
            <a:ext cx="2977181" cy="2977181"/>
            <a:chOff x="0" y="0"/>
            <a:chExt cx="3969575" cy="3969575"/>
          </a:xfrm>
        </p:grpSpPr>
        <p:grpSp>
          <p:nvGrpSpPr>
            <p:cNvPr name="Group 14" id="14"/>
            <p:cNvGrpSpPr/>
            <p:nvPr/>
          </p:nvGrpSpPr>
          <p:grpSpPr>
            <a:xfrm rot="0">
              <a:off x="0" y="0"/>
              <a:ext cx="1984788" cy="1984788"/>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16" id="16"/>
              <p:cNvSpPr txBox="true"/>
              <p:nvPr/>
            </p:nvSpPr>
            <p:spPr>
              <a:xfrm>
                <a:off x="0" y="19050"/>
                <a:ext cx="812800" cy="793750"/>
              </a:xfrm>
              <a:prstGeom prst="rect">
                <a:avLst/>
              </a:prstGeom>
            </p:spPr>
            <p:txBody>
              <a:bodyPr anchor="ctr" rtlCol="false" tIns="50800" lIns="50800" bIns="50800" rIns="50800"/>
              <a:lstStyle/>
              <a:p>
                <a:pPr algn="ctr">
                  <a:lnSpc>
                    <a:spcPts val="1980"/>
                  </a:lnSpc>
                </a:pPr>
              </a:p>
            </p:txBody>
          </p:sp>
        </p:grpSp>
        <p:grpSp>
          <p:nvGrpSpPr>
            <p:cNvPr name="Group 17" id="17"/>
            <p:cNvGrpSpPr/>
            <p:nvPr/>
          </p:nvGrpSpPr>
          <p:grpSpPr>
            <a:xfrm rot="0">
              <a:off x="0" y="1984788"/>
              <a:ext cx="1984788" cy="1984788"/>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19" id="19"/>
              <p:cNvSpPr txBox="true"/>
              <p:nvPr/>
            </p:nvSpPr>
            <p:spPr>
              <a:xfrm>
                <a:off x="0" y="19050"/>
                <a:ext cx="812800" cy="793750"/>
              </a:xfrm>
              <a:prstGeom prst="rect">
                <a:avLst/>
              </a:prstGeom>
            </p:spPr>
            <p:txBody>
              <a:bodyPr anchor="ctr" rtlCol="false" tIns="50800" lIns="50800" bIns="50800" rIns="50800"/>
              <a:lstStyle/>
              <a:p>
                <a:pPr algn="ctr">
                  <a:lnSpc>
                    <a:spcPts val="1980"/>
                  </a:lnSpc>
                </a:pPr>
              </a:p>
            </p:txBody>
          </p:sp>
        </p:grpSp>
        <p:grpSp>
          <p:nvGrpSpPr>
            <p:cNvPr name="Group 20" id="20"/>
            <p:cNvGrpSpPr/>
            <p:nvPr/>
          </p:nvGrpSpPr>
          <p:grpSpPr>
            <a:xfrm rot="0">
              <a:off x="1984788" y="0"/>
              <a:ext cx="1984788" cy="1984788"/>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22" id="22"/>
              <p:cNvSpPr txBox="true"/>
              <p:nvPr/>
            </p:nvSpPr>
            <p:spPr>
              <a:xfrm>
                <a:off x="0" y="19050"/>
                <a:ext cx="812800" cy="793750"/>
              </a:xfrm>
              <a:prstGeom prst="rect">
                <a:avLst/>
              </a:prstGeom>
            </p:spPr>
            <p:txBody>
              <a:bodyPr anchor="ctr" rtlCol="false" tIns="50800" lIns="50800" bIns="50800" rIns="50800"/>
              <a:lstStyle/>
              <a:p>
                <a:pPr algn="ctr">
                  <a:lnSpc>
                    <a:spcPts val="1980"/>
                  </a:lnSpc>
                </a:pPr>
              </a:p>
            </p:txBody>
          </p:sp>
        </p:grpSp>
      </p:grpSp>
      <p:grpSp>
        <p:nvGrpSpPr>
          <p:cNvPr name="Group 23" id="23"/>
          <p:cNvGrpSpPr/>
          <p:nvPr/>
        </p:nvGrpSpPr>
        <p:grpSpPr>
          <a:xfrm rot="5400000">
            <a:off x="5525495" y="1967693"/>
            <a:ext cx="1488591" cy="1488591"/>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25" id="25"/>
            <p:cNvSpPr txBox="true"/>
            <p:nvPr/>
          </p:nvSpPr>
          <p:spPr>
            <a:xfrm>
              <a:off x="0" y="19050"/>
              <a:ext cx="812800" cy="793750"/>
            </a:xfrm>
            <a:prstGeom prst="rect">
              <a:avLst/>
            </a:prstGeom>
          </p:spPr>
          <p:txBody>
            <a:bodyPr anchor="ctr" rtlCol="false" tIns="132573" lIns="132573" bIns="132573" rIns="132573"/>
            <a:lstStyle/>
            <a:p>
              <a:pPr algn="ctr">
                <a:lnSpc>
                  <a:spcPts val="1980"/>
                </a:lnSpc>
              </a:pPr>
            </a:p>
          </p:txBody>
        </p:sp>
      </p:grpSp>
      <p:grpSp>
        <p:nvGrpSpPr>
          <p:cNvPr name="Group 26" id="26"/>
          <p:cNvGrpSpPr/>
          <p:nvPr/>
        </p:nvGrpSpPr>
        <p:grpSpPr>
          <a:xfrm rot="5400000">
            <a:off x="4036904" y="6940710"/>
            <a:ext cx="1488591" cy="1488591"/>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28" id="28"/>
            <p:cNvSpPr txBox="true"/>
            <p:nvPr/>
          </p:nvSpPr>
          <p:spPr>
            <a:xfrm>
              <a:off x="0" y="19050"/>
              <a:ext cx="812800" cy="793750"/>
            </a:xfrm>
            <a:prstGeom prst="rect">
              <a:avLst/>
            </a:prstGeom>
          </p:spPr>
          <p:txBody>
            <a:bodyPr anchor="ctr" rtlCol="false" tIns="132573" lIns="132573" bIns="132573" rIns="132573"/>
            <a:lstStyle/>
            <a:p>
              <a:pPr algn="ctr">
                <a:lnSpc>
                  <a:spcPts val="1980"/>
                </a:lnSpc>
              </a:pPr>
            </a:p>
          </p:txBody>
        </p:sp>
      </p:grpSp>
      <p:grpSp>
        <p:nvGrpSpPr>
          <p:cNvPr name="Group 29" id="29"/>
          <p:cNvGrpSpPr/>
          <p:nvPr/>
        </p:nvGrpSpPr>
        <p:grpSpPr>
          <a:xfrm rot="5400000">
            <a:off x="4036904" y="3456284"/>
            <a:ext cx="1488591" cy="1488591"/>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31" id="31"/>
            <p:cNvSpPr txBox="true"/>
            <p:nvPr/>
          </p:nvSpPr>
          <p:spPr>
            <a:xfrm>
              <a:off x="0" y="19050"/>
              <a:ext cx="812800" cy="793750"/>
            </a:xfrm>
            <a:prstGeom prst="rect">
              <a:avLst/>
            </a:prstGeom>
          </p:spPr>
          <p:txBody>
            <a:bodyPr anchor="ctr" rtlCol="false" tIns="132573" lIns="132573" bIns="132573" rIns="132573"/>
            <a:lstStyle/>
            <a:p>
              <a:pPr algn="ctr">
                <a:lnSpc>
                  <a:spcPts val="1980"/>
                </a:lnSpc>
              </a:pPr>
            </a:p>
          </p:txBody>
        </p:sp>
      </p:grpSp>
      <p:grpSp>
        <p:nvGrpSpPr>
          <p:cNvPr name="Group 32" id="32"/>
          <p:cNvGrpSpPr/>
          <p:nvPr/>
        </p:nvGrpSpPr>
        <p:grpSpPr>
          <a:xfrm rot="5400000">
            <a:off x="11089327" y="7048382"/>
            <a:ext cx="1488591" cy="1488591"/>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34" id="34"/>
            <p:cNvSpPr txBox="true"/>
            <p:nvPr/>
          </p:nvSpPr>
          <p:spPr>
            <a:xfrm>
              <a:off x="0" y="19050"/>
              <a:ext cx="812800" cy="793750"/>
            </a:xfrm>
            <a:prstGeom prst="rect">
              <a:avLst/>
            </a:prstGeom>
          </p:spPr>
          <p:txBody>
            <a:bodyPr anchor="ctr" rtlCol="false" tIns="132573" lIns="132573" bIns="132573" rIns="132573"/>
            <a:lstStyle/>
            <a:p>
              <a:pPr algn="ctr">
                <a:lnSpc>
                  <a:spcPts val="1980"/>
                </a:lnSpc>
              </a:pPr>
            </a:p>
          </p:txBody>
        </p:sp>
      </p:grpSp>
      <p:grpSp>
        <p:nvGrpSpPr>
          <p:cNvPr name="Group 35" id="35"/>
          <p:cNvGrpSpPr/>
          <p:nvPr/>
        </p:nvGrpSpPr>
        <p:grpSpPr>
          <a:xfrm rot="5400000">
            <a:off x="2548314" y="6940710"/>
            <a:ext cx="1488591" cy="1488591"/>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1"/>
            </a:solidFill>
          </p:spPr>
        </p:sp>
        <p:sp>
          <p:nvSpPr>
            <p:cNvPr name="TextBox 37" id="37"/>
            <p:cNvSpPr txBox="true"/>
            <p:nvPr/>
          </p:nvSpPr>
          <p:spPr>
            <a:xfrm>
              <a:off x="0" y="19050"/>
              <a:ext cx="812800" cy="793750"/>
            </a:xfrm>
            <a:prstGeom prst="rect">
              <a:avLst/>
            </a:prstGeom>
          </p:spPr>
          <p:txBody>
            <a:bodyPr anchor="ctr" rtlCol="false" tIns="132573" lIns="132573" bIns="132573" rIns="132573"/>
            <a:lstStyle/>
            <a:p>
              <a:pPr algn="ctr">
                <a:lnSpc>
                  <a:spcPts val="1980"/>
                </a:lnSpc>
              </a:pPr>
            </a:p>
          </p:txBody>
        </p:sp>
      </p:grpSp>
      <p:grpSp>
        <p:nvGrpSpPr>
          <p:cNvPr name="Group 38" id="38"/>
          <p:cNvGrpSpPr/>
          <p:nvPr/>
        </p:nvGrpSpPr>
        <p:grpSpPr>
          <a:xfrm rot="-5400000">
            <a:off x="152400" y="8581701"/>
            <a:ext cx="1857699" cy="1857699"/>
            <a:chOff x="0" y="0"/>
            <a:chExt cx="2476932" cy="2476932"/>
          </a:xfrm>
        </p:grpSpPr>
        <p:grpSp>
          <p:nvGrpSpPr>
            <p:cNvPr name="Group 39" id="39"/>
            <p:cNvGrpSpPr/>
            <p:nvPr/>
          </p:nvGrpSpPr>
          <p:grpSpPr>
            <a:xfrm rot="0">
              <a:off x="0" y="0"/>
              <a:ext cx="1238466" cy="1238466"/>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41" id="41"/>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42" id="42"/>
            <p:cNvGrpSpPr/>
            <p:nvPr/>
          </p:nvGrpSpPr>
          <p:grpSpPr>
            <a:xfrm rot="0">
              <a:off x="0" y="1238466"/>
              <a:ext cx="1238466" cy="1238466"/>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44" id="44"/>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45" id="45"/>
            <p:cNvGrpSpPr/>
            <p:nvPr/>
          </p:nvGrpSpPr>
          <p:grpSpPr>
            <a:xfrm rot="0">
              <a:off x="1238466" y="0"/>
              <a:ext cx="1238466" cy="1238466"/>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47" id="47"/>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sp>
        <p:nvSpPr>
          <p:cNvPr name="Freeform 48" id="48"/>
          <p:cNvSpPr/>
          <p:nvPr/>
        </p:nvSpPr>
        <p:spPr>
          <a:xfrm flipH="false" flipV="false" rot="0">
            <a:off x="4026827" y="3842654"/>
            <a:ext cx="10234347" cy="5744027"/>
          </a:xfrm>
          <a:custGeom>
            <a:avLst/>
            <a:gdLst/>
            <a:ahLst/>
            <a:cxnLst/>
            <a:rect r="r" b="b" t="t" l="l"/>
            <a:pathLst>
              <a:path h="5744027" w="10234347">
                <a:moveTo>
                  <a:pt x="0" y="0"/>
                </a:moveTo>
                <a:lnTo>
                  <a:pt x="10234346" y="0"/>
                </a:lnTo>
                <a:lnTo>
                  <a:pt x="10234346" y="5744028"/>
                </a:lnTo>
                <a:lnTo>
                  <a:pt x="0" y="5744028"/>
                </a:lnTo>
                <a:lnTo>
                  <a:pt x="0" y="0"/>
                </a:lnTo>
                <a:close/>
              </a:path>
            </a:pathLst>
          </a:custGeom>
          <a:blipFill>
            <a:blip r:embed="rId2"/>
            <a:stretch>
              <a:fillRect l="0" t="0" r="0" b="0"/>
            </a:stretch>
          </a:blipFill>
        </p:spPr>
      </p:sp>
      <p:grpSp>
        <p:nvGrpSpPr>
          <p:cNvPr name="Group 49" id="49"/>
          <p:cNvGrpSpPr/>
          <p:nvPr/>
        </p:nvGrpSpPr>
        <p:grpSpPr>
          <a:xfrm rot="0">
            <a:off x="377600" y="321611"/>
            <a:ext cx="2102569" cy="275311"/>
            <a:chOff x="0" y="0"/>
            <a:chExt cx="2803426" cy="367081"/>
          </a:xfrm>
        </p:grpSpPr>
        <p:sp>
          <p:nvSpPr>
            <p:cNvPr name="TextBox 50" id="50"/>
            <p:cNvSpPr txBox="true"/>
            <p:nvPr/>
          </p:nvSpPr>
          <p:spPr>
            <a:xfrm rot="0">
              <a:off x="0" y="19050"/>
              <a:ext cx="1508522" cy="341630"/>
            </a:xfrm>
            <a:prstGeom prst="rect">
              <a:avLst/>
            </a:prstGeom>
          </p:spPr>
          <p:txBody>
            <a:bodyPr anchor="t" rtlCol="false" tIns="0" lIns="0" bIns="0" rIns="0">
              <a:spAutoFit/>
            </a:bodyPr>
            <a:lstStyle/>
            <a:p>
              <a:pPr algn="ctr">
                <a:lnSpc>
                  <a:spcPts val="1979"/>
                </a:lnSpc>
                <a:spcBef>
                  <a:spcPct val="0"/>
                </a:spcBef>
              </a:pPr>
              <a:r>
                <a:rPr lang="en-US" b="true" sz="1799">
                  <a:solidFill>
                    <a:srgbClr val="000000"/>
                  </a:solidFill>
                  <a:latin typeface="Libre Baskerville Bold"/>
                  <a:ea typeface="Libre Baskerville Bold"/>
                  <a:cs typeface="Libre Baskerville Bold"/>
                  <a:sym typeface="Libre Baskerville Bold"/>
                </a:rPr>
                <a:t>Arowwai </a:t>
              </a:r>
            </a:p>
          </p:txBody>
        </p:sp>
        <p:sp>
          <p:nvSpPr>
            <p:cNvPr name="TextBox 51" id="51"/>
            <p:cNvSpPr txBox="true"/>
            <p:nvPr/>
          </p:nvSpPr>
          <p:spPr>
            <a:xfrm rot="0">
              <a:off x="1521222" y="89374"/>
              <a:ext cx="1282204" cy="277707"/>
            </a:xfrm>
            <a:prstGeom prst="rect">
              <a:avLst/>
            </a:prstGeom>
          </p:spPr>
          <p:txBody>
            <a:bodyPr anchor="t" rtlCol="false" tIns="0" lIns="0" bIns="0" rIns="0">
              <a:spAutoFit/>
            </a:bodyPr>
            <a:lstStyle/>
            <a:p>
              <a:pPr algn="ctr">
                <a:lnSpc>
                  <a:spcPts val="1540"/>
                </a:lnSpc>
                <a:spcBef>
                  <a:spcPct val="0"/>
                </a:spcBef>
              </a:pPr>
              <a:r>
                <a:rPr lang="en-US" sz="1400">
                  <a:solidFill>
                    <a:srgbClr val="929292"/>
                  </a:solidFill>
                  <a:latin typeface="Lovelo"/>
                  <a:ea typeface="Lovelo"/>
                  <a:cs typeface="Lovelo"/>
                  <a:sym typeface="Lovelo"/>
                </a:rPr>
                <a:t>Industries</a:t>
              </a:r>
            </a:p>
          </p:txBody>
        </p:sp>
      </p:grpSp>
      <p:sp>
        <p:nvSpPr>
          <p:cNvPr name="TextBox 52" id="52"/>
          <p:cNvSpPr txBox="true"/>
          <p:nvPr/>
        </p:nvSpPr>
        <p:spPr>
          <a:xfrm rot="0">
            <a:off x="377600" y="9748607"/>
            <a:ext cx="4562061" cy="207645"/>
          </a:xfrm>
          <a:prstGeom prst="rect">
            <a:avLst/>
          </a:prstGeom>
        </p:spPr>
        <p:txBody>
          <a:bodyPr anchor="t" rtlCol="false" tIns="0" lIns="0" bIns="0" rIns="0">
            <a:spAutoFit/>
          </a:bodyPr>
          <a:lstStyle/>
          <a:p>
            <a:pPr algn="l">
              <a:lnSpc>
                <a:spcPts val="1679"/>
              </a:lnSpc>
            </a:pPr>
            <a:r>
              <a:rPr lang="en-US" sz="1199" b="true">
                <a:solidFill>
                  <a:srgbClr val="000000"/>
                </a:solidFill>
                <a:latin typeface="Inter Bold"/>
                <a:ea typeface="Inter Bold"/>
                <a:cs typeface="Inter Bold"/>
                <a:sym typeface="Inter Bold"/>
              </a:rPr>
              <a:t>www.reallygreatsite.com</a:t>
            </a:r>
          </a:p>
        </p:txBody>
      </p:sp>
      <p:sp>
        <p:nvSpPr>
          <p:cNvPr name="TextBox 53" id="53"/>
          <p:cNvSpPr txBox="true"/>
          <p:nvPr/>
        </p:nvSpPr>
        <p:spPr>
          <a:xfrm rot="0">
            <a:off x="1588574" y="2353212"/>
            <a:ext cx="14866513" cy="1477798"/>
          </a:xfrm>
          <a:prstGeom prst="rect">
            <a:avLst/>
          </a:prstGeom>
        </p:spPr>
        <p:txBody>
          <a:bodyPr anchor="t" rtlCol="false" tIns="0" lIns="0" bIns="0" rIns="0">
            <a:spAutoFit/>
          </a:bodyPr>
          <a:lstStyle/>
          <a:p>
            <a:pPr algn="ctr">
              <a:lnSpc>
                <a:spcPts val="2335"/>
              </a:lnSpc>
              <a:spcBef>
                <a:spcPct val="0"/>
              </a:spcBef>
            </a:pPr>
            <a:r>
              <a:rPr lang="en-US" sz="2122">
                <a:solidFill>
                  <a:srgbClr val="000000"/>
                </a:solidFill>
                <a:latin typeface="Inter"/>
                <a:ea typeface="Inter"/>
                <a:cs typeface="Inter"/>
                <a:sym typeface="Inter"/>
              </a:rPr>
              <a:t>Ce projet démontre le pipeline DevOps complet moderne. De Terraform qui provisionne l'infrastructure cloud, à Ansible qui la configure, en passant par Docker qui containerise l'application, Kubernetes qui l'orchestre, et GitHub Actions qui automatise tout—nous avons créé un système entièrement automatisé, sécurisé, et production-ready. C'est la définition du DevOps : infrastructure, configuration, conteneurisation, et déploiement—tout as code.</a:t>
            </a:r>
          </a:p>
          <a:p>
            <a:pPr algn="ctr">
              <a:lnSpc>
                <a:spcPts val="2335"/>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EEEEEF"/>
        </a:solidFill>
      </p:bgPr>
    </p:bg>
    <p:spTree>
      <p:nvGrpSpPr>
        <p:cNvPr id="1" name=""/>
        <p:cNvGrpSpPr/>
        <p:nvPr/>
      </p:nvGrpSpPr>
      <p:grpSpPr>
        <a:xfrm>
          <a:off x="0" y="0"/>
          <a:ext cx="0" cy="0"/>
          <a:chOff x="0" y="0"/>
          <a:chExt cx="0" cy="0"/>
        </a:xfrm>
      </p:grpSpPr>
      <p:sp>
        <p:nvSpPr>
          <p:cNvPr name="TextBox 2" id="2"/>
          <p:cNvSpPr txBox="true"/>
          <p:nvPr/>
        </p:nvSpPr>
        <p:spPr>
          <a:xfrm rot="0">
            <a:off x="5265439" y="4040271"/>
            <a:ext cx="7757122" cy="878840"/>
          </a:xfrm>
          <a:prstGeom prst="rect">
            <a:avLst/>
          </a:prstGeom>
        </p:spPr>
        <p:txBody>
          <a:bodyPr anchor="t" rtlCol="false" tIns="0" lIns="0" bIns="0" rIns="0">
            <a:spAutoFit/>
          </a:bodyPr>
          <a:lstStyle/>
          <a:p>
            <a:pPr algn="ctr" marL="0" indent="0" lvl="0">
              <a:lnSpc>
                <a:spcPts val="6819"/>
              </a:lnSpc>
              <a:spcBef>
                <a:spcPct val="0"/>
              </a:spcBef>
            </a:pPr>
            <a:r>
              <a:rPr lang="en-US" b="true" sz="6199" spc="-61" strike="noStrike" u="none">
                <a:solidFill>
                  <a:srgbClr val="000000"/>
                </a:solidFill>
                <a:latin typeface="Libre Baskerville Bold"/>
                <a:ea typeface="Libre Baskerville Bold"/>
                <a:cs typeface="Libre Baskerville Bold"/>
                <a:sym typeface="Libre Baskerville Bold"/>
              </a:rPr>
              <a:t>Thank You</a:t>
            </a:r>
          </a:p>
        </p:txBody>
      </p:sp>
      <p:grpSp>
        <p:nvGrpSpPr>
          <p:cNvPr name="Group 3" id="3"/>
          <p:cNvGrpSpPr/>
          <p:nvPr/>
        </p:nvGrpSpPr>
        <p:grpSpPr>
          <a:xfrm rot="-5400000">
            <a:off x="0" y="8429301"/>
            <a:ext cx="1857699" cy="1857699"/>
            <a:chOff x="0" y="0"/>
            <a:chExt cx="2476932" cy="2476932"/>
          </a:xfrm>
        </p:grpSpPr>
        <p:grpSp>
          <p:nvGrpSpPr>
            <p:cNvPr name="Group 4" id="4"/>
            <p:cNvGrpSpPr/>
            <p:nvPr/>
          </p:nvGrpSpPr>
          <p:grpSpPr>
            <a:xfrm rot="0">
              <a:off x="0" y="0"/>
              <a:ext cx="1238466" cy="1238466"/>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6" id="6"/>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7" id="7"/>
            <p:cNvGrpSpPr/>
            <p:nvPr/>
          </p:nvGrpSpPr>
          <p:grpSpPr>
            <a:xfrm rot="0">
              <a:off x="0" y="1238466"/>
              <a:ext cx="1238466" cy="1238466"/>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9" id="9"/>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10" id="10"/>
            <p:cNvGrpSpPr/>
            <p:nvPr/>
          </p:nvGrpSpPr>
          <p:grpSpPr>
            <a:xfrm rot="0">
              <a:off x="1238466" y="0"/>
              <a:ext cx="1238466" cy="123846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12" id="12"/>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grpSp>
        <p:nvGrpSpPr>
          <p:cNvPr name="Group 13" id="13"/>
          <p:cNvGrpSpPr/>
          <p:nvPr/>
        </p:nvGrpSpPr>
        <p:grpSpPr>
          <a:xfrm rot="5400000">
            <a:off x="11411802" y="2066203"/>
            <a:ext cx="2977181" cy="2977181"/>
            <a:chOff x="0" y="0"/>
            <a:chExt cx="3969575" cy="3969575"/>
          </a:xfrm>
        </p:grpSpPr>
        <p:grpSp>
          <p:nvGrpSpPr>
            <p:cNvPr name="Group 14" id="14"/>
            <p:cNvGrpSpPr/>
            <p:nvPr/>
          </p:nvGrpSpPr>
          <p:grpSpPr>
            <a:xfrm rot="0">
              <a:off x="0" y="0"/>
              <a:ext cx="1984788" cy="1984788"/>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16" id="16"/>
              <p:cNvSpPr txBox="true"/>
              <p:nvPr/>
            </p:nvSpPr>
            <p:spPr>
              <a:xfrm>
                <a:off x="0" y="19050"/>
                <a:ext cx="812800" cy="793750"/>
              </a:xfrm>
              <a:prstGeom prst="rect">
                <a:avLst/>
              </a:prstGeom>
            </p:spPr>
            <p:txBody>
              <a:bodyPr anchor="ctr" rtlCol="false" tIns="50800" lIns="50800" bIns="50800" rIns="50800"/>
              <a:lstStyle/>
              <a:p>
                <a:pPr algn="ctr">
                  <a:lnSpc>
                    <a:spcPts val="1980"/>
                  </a:lnSpc>
                </a:pPr>
              </a:p>
            </p:txBody>
          </p:sp>
        </p:grpSp>
        <p:grpSp>
          <p:nvGrpSpPr>
            <p:cNvPr name="Group 17" id="17"/>
            <p:cNvGrpSpPr/>
            <p:nvPr/>
          </p:nvGrpSpPr>
          <p:grpSpPr>
            <a:xfrm rot="0">
              <a:off x="0" y="1984788"/>
              <a:ext cx="1984788" cy="1984788"/>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19" id="19"/>
              <p:cNvSpPr txBox="true"/>
              <p:nvPr/>
            </p:nvSpPr>
            <p:spPr>
              <a:xfrm>
                <a:off x="0" y="19050"/>
                <a:ext cx="812800" cy="793750"/>
              </a:xfrm>
              <a:prstGeom prst="rect">
                <a:avLst/>
              </a:prstGeom>
            </p:spPr>
            <p:txBody>
              <a:bodyPr anchor="ctr" rtlCol="false" tIns="50800" lIns="50800" bIns="50800" rIns="50800"/>
              <a:lstStyle/>
              <a:p>
                <a:pPr algn="ctr">
                  <a:lnSpc>
                    <a:spcPts val="1980"/>
                  </a:lnSpc>
                </a:pPr>
              </a:p>
            </p:txBody>
          </p:sp>
        </p:grpSp>
        <p:grpSp>
          <p:nvGrpSpPr>
            <p:cNvPr name="Group 20" id="20"/>
            <p:cNvGrpSpPr/>
            <p:nvPr/>
          </p:nvGrpSpPr>
          <p:grpSpPr>
            <a:xfrm rot="0">
              <a:off x="1984788" y="0"/>
              <a:ext cx="1984788" cy="1984788"/>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22" id="22"/>
              <p:cNvSpPr txBox="true"/>
              <p:nvPr/>
            </p:nvSpPr>
            <p:spPr>
              <a:xfrm>
                <a:off x="0" y="19050"/>
                <a:ext cx="812800" cy="793750"/>
              </a:xfrm>
              <a:prstGeom prst="rect">
                <a:avLst/>
              </a:prstGeom>
            </p:spPr>
            <p:txBody>
              <a:bodyPr anchor="ctr" rtlCol="false" tIns="50800" lIns="50800" bIns="50800" rIns="50800"/>
              <a:lstStyle/>
              <a:p>
                <a:pPr algn="ctr">
                  <a:lnSpc>
                    <a:spcPts val="1980"/>
                  </a:lnSpc>
                </a:pPr>
              </a:p>
            </p:txBody>
          </p:sp>
        </p:grpSp>
      </p:grpSp>
      <p:grpSp>
        <p:nvGrpSpPr>
          <p:cNvPr name="Group 23" id="23"/>
          <p:cNvGrpSpPr/>
          <p:nvPr/>
        </p:nvGrpSpPr>
        <p:grpSpPr>
          <a:xfrm rot="5400000">
            <a:off x="5525495" y="1967693"/>
            <a:ext cx="1488591" cy="1488591"/>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25" id="25"/>
            <p:cNvSpPr txBox="true"/>
            <p:nvPr/>
          </p:nvSpPr>
          <p:spPr>
            <a:xfrm>
              <a:off x="0" y="19050"/>
              <a:ext cx="812800" cy="793750"/>
            </a:xfrm>
            <a:prstGeom prst="rect">
              <a:avLst/>
            </a:prstGeom>
          </p:spPr>
          <p:txBody>
            <a:bodyPr anchor="ctr" rtlCol="false" tIns="132573" lIns="132573" bIns="132573" rIns="132573"/>
            <a:lstStyle/>
            <a:p>
              <a:pPr algn="ctr">
                <a:lnSpc>
                  <a:spcPts val="1980"/>
                </a:lnSpc>
              </a:pPr>
            </a:p>
          </p:txBody>
        </p:sp>
      </p:grpSp>
      <p:grpSp>
        <p:nvGrpSpPr>
          <p:cNvPr name="Group 26" id="26"/>
          <p:cNvGrpSpPr/>
          <p:nvPr/>
        </p:nvGrpSpPr>
        <p:grpSpPr>
          <a:xfrm rot="5400000">
            <a:off x="4036904" y="6940710"/>
            <a:ext cx="1488591" cy="1488591"/>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28" id="28"/>
            <p:cNvSpPr txBox="true"/>
            <p:nvPr/>
          </p:nvSpPr>
          <p:spPr>
            <a:xfrm>
              <a:off x="0" y="19050"/>
              <a:ext cx="812800" cy="793750"/>
            </a:xfrm>
            <a:prstGeom prst="rect">
              <a:avLst/>
            </a:prstGeom>
          </p:spPr>
          <p:txBody>
            <a:bodyPr anchor="ctr" rtlCol="false" tIns="132573" lIns="132573" bIns="132573" rIns="132573"/>
            <a:lstStyle/>
            <a:p>
              <a:pPr algn="ctr">
                <a:lnSpc>
                  <a:spcPts val="1980"/>
                </a:lnSpc>
              </a:pPr>
            </a:p>
          </p:txBody>
        </p:sp>
      </p:grpSp>
      <p:grpSp>
        <p:nvGrpSpPr>
          <p:cNvPr name="Group 29" id="29"/>
          <p:cNvGrpSpPr/>
          <p:nvPr/>
        </p:nvGrpSpPr>
        <p:grpSpPr>
          <a:xfrm rot="5400000">
            <a:off x="4036904" y="3456284"/>
            <a:ext cx="1488591" cy="1488591"/>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31" id="31"/>
            <p:cNvSpPr txBox="true"/>
            <p:nvPr/>
          </p:nvSpPr>
          <p:spPr>
            <a:xfrm>
              <a:off x="0" y="19050"/>
              <a:ext cx="812800" cy="793750"/>
            </a:xfrm>
            <a:prstGeom prst="rect">
              <a:avLst/>
            </a:prstGeom>
          </p:spPr>
          <p:txBody>
            <a:bodyPr anchor="ctr" rtlCol="false" tIns="132573" lIns="132573" bIns="132573" rIns="132573"/>
            <a:lstStyle/>
            <a:p>
              <a:pPr algn="ctr">
                <a:lnSpc>
                  <a:spcPts val="1980"/>
                </a:lnSpc>
              </a:pPr>
            </a:p>
          </p:txBody>
        </p:sp>
      </p:grpSp>
      <p:grpSp>
        <p:nvGrpSpPr>
          <p:cNvPr name="Group 32" id="32"/>
          <p:cNvGrpSpPr/>
          <p:nvPr/>
        </p:nvGrpSpPr>
        <p:grpSpPr>
          <a:xfrm rot="5400000">
            <a:off x="11089327" y="7417953"/>
            <a:ext cx="1488591" cy="1488591"/>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34" id="34"/>
            <p:cNvSpPr txBox="true"/>
            <p:nvPr/>
          </p:nvSpPr>
          <p:spPr>
            <a:xfrm>
              <a:off x="0" y="19050"/>
              <a:ext cx="812800" cy="793750"/>
            </a:xfrm>
            <a:prstGeom prst="rect">
              <a:avLst/>
            </a:prstGeom>
          </p:spPr>
          <p:txBody>
            <a:bodyPr anchor="ctr" rtlCol="false" tIns="132573" lIns="132573" bIns="132573" rIns="132573"/>
            <a:lstStyle/>
            <a:p>
              <a:pPr algn="ctr">
                <a:lnSpc>
                  <a:spcPts val="1980"/>
                </a:lnSpc>
              </a:pPr>
            </a:p>
          </p:txBody>
        </p:sp>
      </p:grpSp>
      <p:grpSp>
        <p:nvGrpSpPr>
          <p:cNvPr name="Group 35" id="35"/>
          <p:cNvGrpSpPr/>
          <p:nvPr/>
        </p:nvGrpSpPr>
        <p:grpSpPr>
          <a:xfrm rot="5400000">
            <a:off x="2548314" y="6940710"/>
            <a:ext cx="1488591" cy="1488591"/>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1"/>
            </a:solidFill>
          </p:spPr>
        </p:sp>
        <p:sp>
          <p:nvSpPr>
            <p:cNvPr name="TextBox 37" id="37"/>
            <p:cNvSpPr txBox="true"/>
            <p:nvPr/>
          </p:nvSpPr>
          <p:spPr>
            <a:xfrm>
              <a:off x="0" y="19050"/>
              <a:ext cx="812800" cy="793750"/>
            </a:xfrm>
            <a:prstGeom prst="rect">
              <a:avLst/>
            </a:prstGeom>
          </p:spPr>
          <p:txBody>
            <a:bodyPr anchor="ctr" rtlCol="false" tIns="132573" lIns="132573" bIns="132573" rIns="132573"/>
            <a:lstStyle/>
            <a:p>
              <a:pPr algn="ctr">
                <a:lnSpc>
                  <a:spcPts val="1980"/>
                </a:lnSpc>
              </a:pPr>
            </a:p>
          </p:txBody>
        </p:sp>
      </p:grpSp>
      <p:grpSp>
        <p:nvGrpSpPr>
          <p:cNvPr name="Group 38" id="38"/>
          <p:cNvGrpSpPr/>
          <p:nvPr/>
        </p:nvGrpSpPr>
        <p:grpSpPr>
          <a:xfrm rot="-5400000">
            <a:off x="152400" y="8581701"/>
            <a:ext cx="1857699" cy="1857699"/>
            <a:chOff x="0" y="0"/>
            <a:chExt cx="2476932" cy="2476932"/>
          </a:xfrm>
        </p:grpSpPr>
        <p:grpSp>
          <p:nvGrpSpPr>
            <p:cNvPr name="Group 39" id="39"/>
            <p:cNvGrpSpPr/>
            <p:nvPr/>
          </p:nvGrpSpPr>
          <p:grpSpPr>
            <a:xfrm rot="0">
              <a:off x="0" y="0"/>
              <a:ext cx="1238466" cy="1238466"/>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1E1E2"/>
              </a:solidFill>
            </p:spPr>
          </p:sp>
          <p:sp>
            <p:nvSpPr>
              <p:cNvPr name="TextBox 41" id="41"/>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42" id="42"/>
            <p:cNvGrpSpPr/>
            <p:nvPr/>
          </p:nvGrpSpPr>
          <p:grpSpPr>
            <a:xfrm rot="0">
              <a:off x="0" y="1238466"/>
              <a:ext cx="1238466" cy="1238466"/>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BEBEC"/>
              </a:solidFill>
            </p:spPr>
          </p:sp>
          <p:sp>
            <p:nvSpPr>
              <p:cNvPr name="TextBox 44" id="44"/>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nvGrpSpPr>
            <p:cNvPr name="Group 45" id="45"/>
            <p:cNvGrpSpPr/>
            <p:nvPr/>
          </p:nvGrpSpPr>
          <p:grpSpPr>
            <a:xfrm rot="0">
              <a:off x="1238466" y="0"/>
              <a:ext cx="1238466" cy="1238466"/>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AEAEB"/>
              </a:solidFill>
            </p:spPr>
          </p:sp>
          <p:sp>
            <p:nvSpPr>
              <p:cNvPr name="TextBox 47" id="47"/>
              <p:cNvSpPr txBox="true"/>
              <p:nvPr/>
            </p:nvSpPr>
            <p:spPr>
              <a:xfrm>
                <a:off x="0" y="19050"/>
                <a:ext cx="812800" cy="793750"/>
              </a:xfrm>
              <a:prstGeom prst="rect">
                <a:avLst/>
              </a:prstGeom>
            </p:spPr>
            <p:txBody>
              <a:bodyPr anchor="ctr" rtlCol="false" tIns="50800" lIns="50800" bIns="50800" rIns="50800"/>
              <a:lstStyle/>
              <a:p>
                <a:pPr algn="ctr">
                  <a:lnSpc>
                    <a:spcPts val="1979"/>
                  </a:lnSpc>
                </a:pPr>
              </a:p>
            </p:txBody>
          </p:sp>
        </p:grpSp>
      </p:grpSp>
      <p:grpSp>
        <p:nvGrpSpPr>
          <p:cNvPr name="Group 48" id="48"/>
          <p:cNvGrpSpPr/>
          <p:nvPr/>
        </p:nvGrpSpPr>
        <p:grpSpPr>
          <a:xfrm rot="0">
            <a:off x="377600" y="321611"/>
            <a:ext cx="2102569" cy="275311"/>
            <a:chOff x="0" y="0"/>
            <a:chExt cx="2803426" cy="367081"/>
          </a:xfrm>
        </p:grpSpPr>
        <p:sp>
          <p:nvSpPr>
            <p:cNvPr name="TextBox 49" id="49"/>
            <p:cNvSpPr txBox="true"/>
            <p:nvPr/>
          </p:nvSpPr>
          <p:spPr>
            <a:xfrm rot="0">
              <a:off x="0" y="19050"/>
              <a:ext cx="1508522" cy="341630"/>
            </a:xfrm>
            <a:prstGeom prst="rect">
              <a:avLst/>
            </a:prstGeom>
          </p:spPr>
          <p:txBody>
            <a:bodyPr anchor="t" rtlCol="false" tIns="0" lIns="0" bIns="0" rIns="0">
              <a:spAutoFit/>
            </a:bodyPr>
            <a:lstStyle/>
            <a:p>
              <a:pPr algn="ctr">
                <a:lnSpc>
                  <a:spcPts val="1979"/>
                </a:lnSpc>
                <a:spcBef>
                  <a:spcPct val="0"/>
                </a:spcBef>
              </a:pPr>
              <a:r>
                <a:rPr lang="en-US" b="true" sz="1799">
                  <a:solidFill>
                    <a:srgbClr val="000000"/>
                  </a:solidFill>
                  <a:latin typeface="Libre Baskerville Bold"/>
                  <a:ea typeface="Libre Baskerville Bold"/>
                  <a:cs typeface="Libre Baskerville Bold"/>
                  <a:sym typeface="Libre Baskerville Bold"/>
                </a:rPr>
                <a:t>Arowwai </a:t>
              </a:r>
            </a:p>
          </p:txBody>
        </p:sp>
        <p:sp>
          <p:nvSpPr>
            <p:cNvPr name="TextBox 50" id="50"/>
            <p:cNvSpPr txBox="true"/>
            <p:nvPr/>
          </p:nvSpPr>
          <p:spPr>
            <a:xfrm rot="0">
              <a:off x="1521222" y="89374"/>
              <a:ext cx="1282204" cy="277707"/>
            </a:xfrm>
            <a:prstGeom prst="rect">
              <a:avLst/>
            </a:prstGeom>
          </p:spPr>
          <p:txBody>
            <a:bodyPr anchor="t" rtlCol="false" tIns="0" lIns="0" bIns="0" rIns="0">
              <a:spAutoFit/>
            </a:bodyPr>
            <a:lstStyle/>
            <a:p>
              <a:pPr algn="ctr">
                <a:lnSpc>
                  <a:spcPts val="1540"/>
                </a:lnSpc>
                <a:spcBef>
                  <a:spcPct val="0"/>
                </a:spcBef>
              </a:pPr>
              <a:r>
                <a:rPr lang="en-US" sz="1400">
                  <a:solidFill>
                    <a:srgbClr val="929292"/>
                  </a:solidFill>
                  <a:latin typeface="Lovelo"/>
                  <a:ea typeface="Lovelo"/>
                  <a:cs typeface="Lovelo"/>
                  <a:sym typeface="Lovelo"/>
                </a:rPr>
                <a:t>Industries</a:t>
              </a:r>
            </a:p>
          </p:txBody>
        </p:sp>
      </p:grpSp>
      <p:sp>
        <p:nvSpPr>
          <p:cNvPr name="TextBox 51" id="51"/>
          <p:cNvSpPr txBox="true"/>
          <p:nvPr/>
        </p:nvSpPr>
        <p:spPr>
          <a:xfrm rot="0">
            <a:off x="377600" y="9748607"/>
            <a:ext cx="4562061" cy="207645"/>
          </a:xfrm>
          <a:prstGeom prst="rect">
            <a:avLst/>
          </a:prstGeom>
        </p:spPr>
        <p:txBody>
          <a:bodyPr anchor="t" rtlCol="false" tIns="0" lIns="0" bIns="0" rIns="0">
            <a:spAutoFit/>
          </a:bodyPr>
          <a:lstStyle/>
          <a:p>
            <a:pPr algn="l">
              <a:lnSpc>
                <a:spcPts val="1679"/>
              </a:lnSpc>
            </a:pPr>
            <a:r>
              <a:rPr lang="en-US" sz="1199" b="true">
                <a:solidFill>
                  <a:srgbClr val="000000"/>
                </a:solidFill>
                <a:latin typeface="Inter Bold"/>
                <a:ea typeface="Inter Bold"/>
                <a:cs typeface="Inter Bold"/>
                <a:sym typeface="Inter Bold"/>
              </a:rPr>
              <a:t>www.reallygreatsite.com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DAHE5tkOWLk</dc:identifier>
  <dcterms:modified xsi:type="dcterms:W3CDTF">2011-08-01T06:04:30Z</dcterms:modified>
  <cp:revision>1</cp:revision>
  <dc:title>Black and Gray Modern 3D Technology Pitch Deck Presentation</dc:title>
</cp:coreProperties>
</file>